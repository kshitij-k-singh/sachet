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0287000" cy="18288000"/>
  <p:embeddedFontLst>
    <p:embeddedFont>
      <p:font typeface="JetBrains Mono" panose="02000009000000000000" pitchFamily="17" charset="0"/>
      <p:regular r:id="rId7"/>
      <p:bold r:id="rId8"/>
    </p:embeddedFont>
    <p:embeddedFont>
      <p:font typeface="Inter" panose="02000503000000020004" pitchFamily="18" charset="0"/>
      <p:regular r:id="rId9"/>
      <p:bold r:id="rId10"/>
    </p:embeddedFont>
  </p:embeddedFontLst>
</p:presentation>
</file>

<file path=ppt/tableStyles.xml><?xml version="1.0" encoding="utf-8"?>
<a:tblStyleLst xmlns:a="http://schemas.openxmlformats.org/drawingml/2006/main" def="{2D5ABB26-0587-4C30-8999-92F81FD0307C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jpe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0" t="0" r="1920000" b="1080000"/>
            <a:pathLst>
              <a:path w="1920000" h="1080000">
                <a:moveTo>
                  <a:pt x="0" y="0"/>
                </a:moveTo>
                <a:lnTo>
                  <a:pt x="1920000" y="0"/>
                </a:lnTo>
                <a:lnTo>
                  <a:pt x="1920000" y="1080000"/>
                </a:lnTo>
                <a:lnTo>
                  <a:pt x="0" y="1080000"/>
                </a:lnTo>
                <a:close/>
              </a:path>
            </a:pathLst>
          </a:custGeom>
          <a:gradFill rotWithShape="1">
            <a:gsLst>
              <a:gs pos="0">
                <a:srgbClr val="94A3B8">
                  <a:alpha val="5882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914400" y="2039523"/>
            <a:ext cx="1815703" cy="293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spc="198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01 — PROBLEM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14400" y="2601817"/>
            <a:ext cx="6765727" cy="176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6930"/>
              </a:lnSpc>
            </a:pPr>
            <a:r>
              <a:rPr sz="6300" b="1" spc="-126">
                <a:solidFill>
                  <a:srgbClr val="F1F5F9"/>
                </a:solidFill>
                <a:latin typeface="Inter"/>
                <a:ea typeface="Inter"/>
                <a:cs typeface="Inter"/>
              </a:rPr>
              <a:t>The reel that costs</a:t>
            </a:r>
          </a:p>
          <a:p>
            <a:pPr>
              <a:lnSpc>
                <a:spcPts val="6930"/>
              </a:lnSpc>
            </a:pPr>
            <a:r>
              <a:rPr sz="6300" b="1" spc="-126">
                <a:solidFill>
                  <a:srgbClr val="F1F5F9"/>
                </a:solidFill>
                <a:latin typeface="Inter"/>
                <a:ea typeface="Inter"/>
                <a:cs typeface="Inter"/>
              </a:rPr>
              <a:t>real money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4907226"/>
            <a:ext cx="932688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3375"/>
              </a:lnSpc>
            </a:pPr>
            <a:r>
              <a:rPr sz="2250">
                <a:solidFill>
                  <a:srgbClr val="F1F5F9"/>
                </a:solidFill>
                <a:latin typeface="Inter"/>
                <a:ea typeface="Inter"/>
                <a:cs typeface="Inter"/>
              </a:rPr>
              <a:t>A first-time investor sees </a:t>
            </a:r>
            <a:r>
              <a:rPr sz="225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“guaranteed 10x”</a:t>
            </a:r>
            <a:r>
              <a:rPr sz="2250">
                <a:solidFill>
                  <a:srgbClr val="F1F5F9"/>
                </a:solidFill>
                <a:latin typeface="Inter"/>
                <a:ea typeface="Inter"/>
                <a:cs typeface="Inter"/>
              </a:rPr>
              <a:t>. She cannot tell teaching from selling.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22960" y="6144399"/>
            <a:ext cx="932688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3375"/>
              </a:lnSpc>
            </a:pPr>
            <a:r>
              <a:rPr sz="2250" b="1">
                <a:solidFill>
                  <a:srgbClr val="F59E0B"/>
                </a:solidFill>
                <a:latin typeface="JetBrains Mono"/>
                <a:ea typeface="JetBrains Mono"/>
                <a:cs typeface="JetBrains Mono"/>
              </a:rPr>
              <a:t>~33%</a:t>
            </a:r>
            <a:r>
              <a:rPr sz="2250">
                <a:solidFill>
                  <a:srgbClr val="F1F5F9"/>
                </a:solidFill>
                <a:latin typeface="Inter"/>
                <a:ea typeface="Inter"/>
                <a:cs typeface="Inter"/>
              </a:rPr>
              <a:t> of finfluencers issue stock tips; only </a:t>
            </a:r>
            <a:r>
              <a:rPr sz="2250" b="1">
                <a:solidFill>
                  <a:srgbClr val="F59E0B"/>
                </a:solidFill>
                <a:latin typeface="JetBrains Mono"/>
                <a:ea typeface="JetBrains Mono"/>
                <a:cs typeface="JetBrains Mono"/>
              </a:rPr>
              <a:t>~6%</a:t>
            </a:r>
            <a:r>
              <a:rPr sz="2250">
                <a:solidFill>
                  <a:srgbClr val="F1F5F9"/>
                </a:solidFill>
                <a:latin typeface="Inter"/>
                <a:ea typeface="Inter"/>
                <a:cs typeface="Inter"/>
              </a:rPr>
              <a:t> are registered. </a:t>
            </a:r>
            <a:r>
              <a:rPr sz="1800">
                <a:solidFill>
                  <a:srgbClr val="94A3B8"/>
                </a:solidFill>
                <a:latin typeface="Inter"/>
                <a:ea typeface="Inter"/>
                <a:cs typeface="Inter"/>
              </a:rPr>
              <a:t>(CFA Institute, 2026)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22960" y="7383726"/>
            <a:ext cx="932688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3375"/>
              </a:lnSpc>
            </a:pPr>
            <a:r>
              <a:rPr sz="2250">
                <a:solidFill>
                  <a:srgbClr val="F1F5F9"/>
                </a:solidFill>
                <a:latin typeface="Inter"/>
                <a:ea typeface="Inter"/>
                <a:cs typeface="Inter"/>
              </a:rPr>
              <a:t>SEBI cut regulated entities off from unregistered finfluencers (2024 framework). The gap this fills: </a:t>
            </a:r>
            <a:r>
              <a:rPr sz="22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the investor’s screen.</a:t>
            </a:r>
          </a:p>
        </p:txBody>
      </p:sp>
      <p:sp>
        <p:nvSpPr>
          <p:cNvPr id="8" name="Shape 8"/>
          <p:cNvSpPr/>
          <p:nvPr/>
        </p:nvSpPr>
        <p:spPr>
          <a:xfrm>
            <a:off x="10972800" y="2514600"/>
            <a:ext cx="6096000" cy="5334000"/>
          </a:xfrm>
          <a:custGeom>
            <a:avLst/>
            <a:gdLst/>
            <a:ahLst/>
            <a:cxnLst/>
            <a:rect l="0" t="0" r="640000" b="560000"/>
            <a:pathLst>
              <a:path w="640000" h="560000">
                <a:moveTo>
                  <a:pt x="14000" y="0"/>
                </a:moveTo>
                <a:lnTo>
                  <a:pt x="626000" y="0"/>
                </a:lnTo>
                <a:cubicBezTo>
                  <a:pt x="633730" y="0"/>
                  <a:pt x="640000" y="6270"/>
                  <a:pt x="640000" y="14000"/>
                </a:cubicBezTo>
                <a:lnTo>
                  <a:pt x="640000" y="546000"/>
                </a:lnTo>
                <a:cubicBezTo>
                  <a:pt x="640000" y="553730"/>
                  <a:pt x="633730" y="560000"/>
                  <a:pt x="626000" y="560000"/>
                </a:cubicBezTo>
                <a:lnTo>
                  <a:pt x="14000" y="560000"/>
                </a:lnTo>
                <a:cubicBezTo>
                  <a:pt x="6270" y="560000"/>
                  <a:pt x="0" y="553730"/>
                  <a:pt x="0" y="546000"/>
                </a:cubicBezTo>
                <a:lnTo>
                  <a:pt x="0" y="14000"/>
                </a:lnTo>
                <a:cubicBezTo>
                  <a:pt x="0" y="6270"/>
                  <a:pt x="6270" y="0"/>
                  <a:pt x="14000" y="0"/>
                </a:cubicBezTo>
                <a:close/>
              </a:path>
            </a:pathLst>
          </a:custGeom>
          <a:solidFill>
            <a:srgbClr val="1E293B"/>
          </a:solidFill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9" name="Image 9"/>
          <p:cNvPicPr/>
          <p:nvPr/>
        </p:nvPicPr>
        <p:blipFill>
          <a:blip r:embed="rId2"/>
          <a:srcRect l="0" t="94" r="0" b="94"/>
          <a:stretch>
            <a:fillRect/>
          </a:stretch>
        </p:blipFill>
        <p:spPr>
          <a:xfrm>
            <a:off x="11249025" y="2790825"/>
            <a:ext cx="5562600" cy="1914525"/>
          </a:xfrm>
          <a:prstGeom prst="roundRect">
            <a:avLst>
              <a:gd name="adj" fmla="val 4975"/>
            </a:avLst>
          </a:prstGeom>
          <a:ln>
            <a:noFill/>
          </a:ln>
        </p:spPr>
      </p:pic>
      <p:sp>
        <p:nvSpPr>
          <p:cNvPr id="10" name="Shape 10"/>
          <p:cNvSpPr/>
          <p:nvPr/>
        </p:nvSpPr>
        <p:spPr>
          <a:xfrm>
            <a:off x="11272838" y="4998244"/>
            <a:ext cx="190500" cy="200025"/>
          </a:xfrm>
          <a:custGeom>
            <a:avLst/>
            <a:gdLst/>
            <a:ahLst/>
            <a:cxnLst/>
            <a:rect l="0" t="0" r="20000" b="21000"/>
            <a:pathLst>
              <a:path w="20000" h="21000">
                <a:moveTo>
                  <a:pt x="12031" y="74"/>
                </a:moveTo>
                <a:cubicBezTo>
                  <a:pt x="11563" y="301"/>
                  <a:pt x="11250" y="844"/>
                  <a:pt x="11250" y="1433"/>
                </a:cubicBezTo>
                <a:lnTo>
                  <a:pt x="11250" y="5056"/>
                </a:lnTo>
                <a:lnTo>
                  <a:pt x="6875" y="5056"/>
                </a:lnTo>
                <a:cubicBezTo>
                  <a:pt x="3086" y="5056"/>
                  <a:pt x="0" y="8635"/>
                  <a:pt x="0" y="13028"/>
                </a:cubicBezTo>
                <a:cubicBezTo>
                  <a:pt x="0" y="18146"/>
                  <a:pt x="3203" y="20456"/>
                  <a:pt x="3906" y="20909"/>
                </a:cubicBezTo>
                <a:cubicBezTo>
                  <a:pt x="4023" y="21000"/>
                  <a:pt x="4141" y="21000"/>
                  <a:pt x="4219" y="21000"/>
                </a:cubicBezTo>
                <a:cubicBezTo>
                  <a:pt x="4648" y="21000"/>
                  <a:pt x="5000" y="20592"/>
                  <a:pt x="5000" y="20094"/>
                </a:cubicBezTo>
                <a:cubicBezTo>
                  <a:pt x="5000" y="19777"/>
                  <a:pt x="4844" y="19460"/>
                  <a:pt x="4609" y="19234"/>
                </a:cubicBezTo>
                <a:cubicBezTo>
                  <a:pt x="4258" y="18826"/>
                  <a:pt x="3750" y="18011"/>
                  <a:pt x="3750" y="16652"/>
                </a:cubicBezTo>
                <a:cubicBezTo>
                  <a:pt x="3750" y="14251"/>
                  <a:pt x="5430" y="12303"/>
                  <a:pt x="7500" y="12303"/>
                </a:cubicBezTo>
                <a:lnTo>
                  <a:pt x="11250" y="12303"/>
                </a:lnTo>
                <a:lnTo>
                  <a:pt x="11250" y="15927"/>
                </a:lnTo>
                <a:cubicBezTo>
                  <a:pt x="11250" y="16516"/>
                  <a:pt x="11563" y="17059"/>
                  <a:pt x="12031" y="17286"/>
                </a:cubicBezTo>
                <a:cubicBezTo>
                  <a:pt x="12500" y="17512"/>
                  <a:pt x="13047" y="17376"/>
                  <a:pt x="13398" y="16969"/>
                </a:cubicBezTo>
                <a:lnTo>
                  <a:pt x="19648" y="9722"/>
                </a:lnTo>
                <a:cubicBezTo>
                  <a:pt x="20117" y="9133"/>
                  <a:pt x="20117" y="8227"/>
                  <a:pt x="19648" y="7683"/>
                </a:cubicBezTo>
                <a:lnTo>
                  <a:pt x="13398" y="436"/>
                </a:lnTo>
                <a:cubicBezTo>
                  <a:pt x="13047" y="-17"/>
                  <a:pt x="12500" y="-107"/>
                  <a:pt x="12031" y="119"/>
                </a:cubicBezTo>
                <a:close/>
                <a:moveTo>
                  <a:pt x="12031" y="74"/>
                </a:moveTo>
                <a:close/>
              </a:path>
            </a:pathLst>
          </a:custGeom>
          <a:solidFill>
            <a:srgbClr val="A3B1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11601450" y="4942999"/>
            <a:ext cx="229388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>
                <a:solidFill>
                  <a:srgbClr val="A3B1C6"/>
                </a:solidFill>
                <a:latin typeface="JetBrains Mono"/>
                <a:ea typeface="JetBrains Mono"/>
                <a:cs typeface="JetBrains Mono"/>
              </a:rPr>
              <a:t>Forwarded many times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249025" y="5342697"/>
            <a:ext cx="3127177" cy="4143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263"/>
              </a:lnSpc>
            </a:pPr>
            <a:r>
              <a:rPr sz="225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MULTIBAGGER ALERT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193590" y="5905839"/>
            <a:ext cx="5654421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3150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Join my premium tips group — </a:t>
            </a:r>
            <a:r>
              <a:rPr sz="2100" b="1">
                <a:solidFill>
                  <a:srgbClr val="FCD34D"/>
                </a:solidFill>
                <a:latin typeface="Inter"/>
                <a:ea typeface="Inter"/>
                <a:cs typeface="Inter"/>
              </a:rPr>
              <a:t>guaranteed 10x</a:t>
            </a: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 in 30 days.</a:t>
            </a:r>
          </a:p>
          <a:p>
            <a:pPr>
              <a:lnSpc>
                <a:spcPts val="3150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Only 50 seats left. Paisa pakka double!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5989647" y="7281386"/>
            <a:ext cx="80292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r">
              <a:lnSpc>
                <a:spcPts val="2100"/>
              </a:lnSpc>
            </a:pPr>
            <a:r>
              <a:rPr sz="1500">
                <a:solidFill>
                  <a:srgbClr val="A3B1C6"/>
                </a:solidFill>
                <a:latin typeface="JetBrains Mono"/>
                <a:ea typeface="JetBrains Mono"/>
                <a:cs typeface="JetBrains Mono"/>
              </a:rPr>
              <a:t>9:41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914400" y="808863"/>
            <a:ext cx="1961406" cy="293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spc="198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02 — SOLUTION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914400" y="1237710"/>
            <a:ext cx="6819007" cy="8323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6555"/>
              </a:lnSpc>
            </a:pPr>
            <a:r>
              <a:rPr sz="5700" b="1" spc="-114">
                <a:solidFill>
                  <a:srgbClr val="F1F5F9"/>
                </a:solidFill>
                <a:latin typeface="Inter"/>
                <a:ea typeface="Inter"/>
                <a:cs typeface="Inter"/>
              </a:rPr>
              <a:t>Paste, attach, know.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1216640" y="1088082"/>
            <a:ext cx="6217920" cy="948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3360"/>
              </a:lnSpc>
            </a:pPr>
            <a:r>
              <a:rPr sz="2400" spc="-12">
                <a:solidFill>
                  <a:srgbClr val="94A3B8"/>
                </a:solidFill>
                <a:latin typeface="Inter"/>
                <a:ea typeface="Inter"/>
                <a:cs typeface="Inter"/>
              </a:rPr>
              <a:t>One 30-second journey: any post in, a clear verdict out.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14400" y="2432566"/>
            <a:ext cx="1371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 spc="18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01 · INPUT</a:t>
            </a:r>
          </a:p>
        </p:txBody>
      </p:sp>
      <p:sp>
        <p:nvSpPr>
          <p:cNvPr id="6" name="Shape 6"/>
          <p:cNvSpPr/>
          <p:nvPr/>
        </p:nvSpPr>
        <p:spPr>
          <a:xfrm>
            <a:off x="914400" y="2876550"/>
            <a:ext cx="4762500" cy="4772025"/>
          </a:xfrm>
          <a:custGeom>
            <a:avLst/>
            <a:gdLst/>
            <a:ahLst/>
            <a:cxnLst/>
            <a:rect l="0" t="0" r="500000" b="501000"/>
            <a:pathLst>
              <a:path w="500000" h="501000">
                <a:moveTo>
                  <a:pt x="14000" y="0"/>
                </a:moveTo>
                <a:lnTo>
                  <a:pt x="486000" y="0"/>
                </a:lnTo>
                <a:cubicBezTo>
                  <a:pt x="493730" y="0"/>
                  <a:pt x="500000" y="6270"/>
                  <a:pt x="500000" y="14000"/>
                </a:cubicBezTo>
                <a:lnTo>
                  <a:pt x="500000" y="487000"/>
                </a:lnTo>
                <a:cubicBezTo>
                  <a:pt x="500000" y="494730"/>
                  <a:pt x="493730" y="501000"/>
                  <a:pt x="486000" y="501000"/>
                </a:cubicBezTo>
                <a:lnTo>
                  <a:pt x="14000" y="501000"/>
                </a:lnTo>
                <a:cubicBezTo>
                  <a:pt x="6270" y="501000"/>
                  <a:pt x="0" y="494730"/>
                  <a:pt x="0" y="487000"/>
                </a:cubicBezTo>
                <a:lnTo>
                  <a:pt x="0" y="14000"/>
                </a:lnTo>
                <a:cubicBezTo>
                  <a:pt x="0" y="6270"/>
                  <a:pt x="6270" y="0"/>
                  <a:pt x="14000" y="0"/>
                </a:cubicBezTo>
                <a:close/>
              </a:path>
            </a:pathLst>
          </a:custGeom>
          <a:solidFill>
            <a:srgbClr val="0A0F1D"/>
          </a:solidFill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923925" y="2886075"/>
            <a:ext cx="4743450" cy="504825"/>
          </a:xfrm>
          <a:custGeom>
            <a:avLst/>
            <a:gdLst/>
            <a:ahLst/>
            <a:cxnLst/>
            <a:rect l="0" t="0" r="498000" b="53000"/>
            <a:pathLst>
              <a:path w="498000" h="53000">
                <a:moveTo>
                  <a:pt x="0" y="0"/>
                </a:moveTo>
                <a:lnTo>
                  <a:pt x="498000" y="0"/>
                </a:lnTo>
                <a:lnTo>
                  <a:pt x="498000" y="53000"/>
                </a:lnTo>
                <a:lnTo>
                  <a:pt x="0" y="53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923925" y="2886075"/>
            <a:ext cx="4743450" cy="504825"/>
          </a:xfrm>
          <a:custGeom>
            <a:avLst/>
            <a:gdLst/>
            <a:ahLst/>
            <a:cxnLst/>
            <a:rect l="0" t="0" r="498000" b="53000"/>
            <a:pathLst>
              <a:path w="498000" h="53000">
                <a:moveTo>
                  <a:pt x="498000" y="53000"/>
                </a:moveTo>
                <a:lnTo>
                  <a:pt x="0" y="53000"/>
                </a:lnTo>
              </a:path>
            </a:pathLst>
          </a:custGeom>
          <a:noFill/>
          <a:ln w="9525" cap="flat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114425" y="2975491"/>
            <a:ext cx="155451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 spc="12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CHECK A POST</a:t>
            </a:r>
          </a:p>
        </p:txBody>
      </p:sp>
      <p:sp>
        <p:nvSpPr>
          <p:cNvPr id="10" name="Shape 10"/>
          <p:cNvSpPr/>
          <p:nvPr/>
        </p:nvSpPr>
        <p:spPr>
          <a:xfrm>
            <a:off x="1152525" y="3619500"/>
            <a:ext cx="4286250" cy="1323975"/>
          </a:xfrm>
          <a:custGeom>
            <a:avLst/>
            <a:gdLst/>
            <a:ahLst/>
            <a:cxnLst/>
            <a:rect l="0" t="0" r="450000" b="139000"/>
            <a:pathLst>
              <a:path w="450000" h="139000">
                <a:moveTo>
                  <a:pt x="14000" y="0"/>
                </a:moveTo>
                <a:lnTo>
                  <a:pt x="436000" y="0"/>
                </a:lnTo>
                <a:cubicBezTo>
                  <a:pt x="443730" y="0"/>
                  <a:pt x="450000" y="6270"/>
                  <a:pt x="450000" y="14000"/>
                </a:cubicBezTo>
                <a:lnTo>
                  <a:pt x="450000" y="125000"/>
                </a:lnTo>
                <a:cubicBezTo>
                  <a:pt x="450000" y="132730"/>
                  <a:pt x="443730" y="139000"/>
                  <a:pt x="436000" y="139000"/>
                </a:cubicBezTo>
                <a:lnTo>
                  <a:pt x="14000" y="139000"/>
                </a:lnTo>
                <a:cubicBezTo>
                  <a:pt x="6270" y="139000"/>
                  <a:pt x="0" y="132730"/>
                  <a:pt x="0" y="125000"/>
                </a:cubicBezTo>
                <a:lnTo>
                  <a:pt x="0" y="14000"/>
                </a:lnTo>
                <a:cubicBezTo>
                  <a:pt x="0" y="6270"/>
                  <a:pt x="6270" y="0"/>
                  <a:pt x="14000" y="0"/>
                </a:cubicBezTo>
                <a:close/>
              </a:path>
            </a:pathLst>
          </a:custGeom>
          <a:solidFill>
            <a:srgbClr val="1E293B"/>
          </a:solidFill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1352550" y="3752497"/>
            <a:ext cx="1008311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75"/>
              </a:lnSpc>
            </a:pPr>
            <a:r>
              <a:rPr sz="1500">
                <a:solidFill>
                  <a:srgbClr val="A3B1C6"/>
                </a:solidFill>
                <a:latin typeface="Inter"/>
                <a:ea typeface="Inter"/>
                <a:cs typeface="Inter"/>
              </a:rPr>
              <a:t>Pasted text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313688" y="4079729"/>
            <a:ext cx="3963924" cy="66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2610"/>
              </a:lnSpc>
            </a:pPr>
            <a:r>
              <a:rPr sz="1800">
                <a:solidFill>
                  <a:srgbClr val="F1F5F9"/>
                </a:solidFill>
                <a:latin typeface="Inter"/>
                <a:ea typeface="Inter"/>
                <a:cs typeface="Inter"/>
              </a:rPr>
              <a:t>Join my VIP group — guaranteed 10x in 30 days. Seats limited!</a:t>
            </a:r>
          </a:p>
        </p:txBody>
      </p:sp>
      <p:sp>
        <p:nvSpPr>
          <p:cNvPr id="13" name="Shape 13"/>
          <p:cNvSpPr/>
          <p:nvPr/>
        </p:nvSpPr>
        <p:spPr>
          <a:xfrm>
            <a:off x="1152525" y="5114925"/>
            <a:ext cx="4286250" cy="514350"/>
          </a:xfrm>
          <a:custGeom>
            <a:avLst/>
            <a:gdLst/>
            <a:ahLst/>
            <a:cxnLst/>
            <a:rect l="0" t="0" r="450000" b="54000"/>
            <a:pathLst>
              <a:path w="450000" h="54000">
                <a:moveTo>
                  <a:pt x="4000" y="0"/>
                </a:moveTo>
                <a:lnTo>
                  <a:pt x="446000" y="0"/>
                </a:lnTo>
                <a:cubicBezTo>
                  <a:pt x="448210" y="0"/>
                  <a:pt x="450000" y="1790"/>
                  <a:pt x="450000" y="4000"/>
                </a:cubicBezTo>
                <a:lnTo>
                  <a:pt x="450000" y="50000"/>
                </a:lnTo>
                <a:cubicBezTo>
                  <a:pt x="450000" y="52210"/>
                  <a:pt x="448210" y="54000"/>
                  <a:pt x="446000" y="54000"/>
                </a:cubicBezTo>
                <a:lnTo>
                  <a:pt x="4000" y="54000"/>
                </a:lnTo>
                <a:cubicBezTo>
                  <a:pt x="1790" y="54000"/>
                  <a:pt x="0" y="52210"/>
                  <a:pt x="0" y="50000"/>
                </a:cubicBezTo>
                <a:lnTo>
                  <a:pt x="0" y="4000"/>
                </a:lnTo>
                <a:cubicBezTo>
                  <a:pt x="0" y="1790"/>
                  <a:pt x="1790" y="0"/>
                  <a:pt x="4000" y="0"/>
                </a:cubicBezTo>
                <a:close/>
              </a:path>
            </a:pathLst>
          </a:custGeom>
          <a:noFill/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1343025" y="5268069"/>
            <a:ext cx="209550" cy="209550"/>
          </a:xfrm>
          <a:custGeom>
            <a:avLst/>
            <a:gdLst/>
            <a:ahLst/>
            <a:cxnLst/>
            <a:rect l="0" t="0" r="22000" b="22000"/>
            <a:pathLst>
              <a:path w="22000" h="22000">
                <a:moveTo>
                  <a:pt x="2750" y="0"/>
                </a:moveTo>
                <a:cubicBezTo>
                  <a:pt x="1246" y="0"/>
                  <a:pt x="0" y="1246"/>
                  <a:pt x="0" y="2750"/>
                </a:cubicBezTo>
                <a:lnTo>
                  <a:pt x="0" y="16500"/>
                </a:lnTo>
                <a:cubicBezTo>
                  <a:pt x="0" y="18004"/>
                  <a:pt x="1246" y="19250"/>
                  <a:pt x="2750" y="19250"/>
                </a:cubicBezTo>
                <a:lnTo>
                  <a:pt x="7563" y="19250"/>
                </a:lnTo>
                <a:lnTo>
                  <a:pt x="7563" y="9625"/>
                </a:lnTo>
                <a:cubicBezTo>
                  <a:pt x="7563" y="6961"/>
                  <a:pt x="9711" y="4813"/>
                  <a:pt x="12375" y="4813"/>
                </a:cubicBezTo>
                <a:lnTo>
                  <a:pt x="15125" y="4813"/>
                </a:lnTo>
                <a:lnTo>
                  <a:pt x="15125" y="2750"/>
                </a:lnTo>
                <a:cubicBezTo>
                  <a:pt x="15125" y="1246"/>
                  <a:pt x="13879" y="0"/>
                  <a:pt x="12375" y="0"/>
                </a:cubicBezTo>
                <a:lnTo>
                  <a:pt x="2750" y="0"/>
                </a:lnTo>
                <a:close/>
                <a:moveTo>
                  <a:pt x="10656" y="4813"/>
                </a:moveTo>
                <a:lnTo>
                  <a:pt x="4469" y="4813"/>
                </a:lnTo>
                <a:cubicBezTo>
                  <a:pt x="3910" y="4813"/>
                  <a:pt x="3438" y="4340"/>
                  <a:pt x="3438" y="3781"/>
                </a:cubicBezTo>
                <a:cubicBezTo>
                  <a:pt x="3438" y="3223"/>
                  <a:pt x="3910" y="2750"/>
                  <a:pt x="4469" y="2750"/>
                </a:cubicBezTo>
                <a:lnTo>
                  <a:pt x="10656" y="2750"/>
                </a:lnTo>
                <a:cubicBezTo>
                  <a:pt x="11215" y="2750"/>
                  <a:pt x="11688" y="3223"/>
                  <a:pt x="11688" y="3781"/>
                </a:cubicBezTo>
                <a:cubicBezTo>
                  <a:pt x="11688" y="4340"/>
                  <a:pt x="11215" y="4813"/>
                  <a:pt x="10656" y="4813"/>
                </a:cubicBezTo>
                <a:close/>
                <a:moveTo>
                  <a:pt x="12375" y="6875"/>
                </a:moveTo>
                <a:cubicBezTo>
                  <a:pt x="10871" y="6875"/>
                  <a:pt x="9625" y="8121"/>
                  <a:pt x="9625" y="9625"/>
                </a:cubicBezTo>
                <a:lnTo>
                  <a:pt x="9625" y="19250"/>
                </a:lnTo>
                <a:cubicBezTo>
                  <a:pt x="9625" y="20754"/>
                  <a:pt x="10871" y="22000"/>
                  <a:pt x="12375" y="22000"/>
                </a:cubicBezTo>
                <a:lnTo>
                  <a:pt x="19250" y="22000"/>
                </a:lnTo>
                <a:cubicBezTo>
                  <a:pt x="20754" y="22000"/>
                  <a:pt x="22000" y="20754"/>
                  <a:pt x="22000" y="19250"/>
                </a:cubicBezTo>
                <a:lnTo>
                  <a:pt x="22000" y="12160"/>
                </a:lnTo>
                <a:cubicBezTo>
                  <a:pt x="22000" y="11430"/>
                  <a:pt x="21699" y="10699"/>
                  <a:pt x="21184" y="10184"/>
                </a:cubicBezTo>
                <a:lnTo>
                  <a:pt x="18691" y="7691"/>
                </a:lnTo>
                <a:cubicBezTo>
                  <a:pt x="18176" y="7176"/>
                  <a:pt x="17488" y="6875"/>
                  <a:pt x="16758" y="6875"/>
                </a:cubicBezTo>
                <a:lnTo>
                  <a:pt x="12375" y="6875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1695450" y="5218597"/>
            <a:ext cx="1005483" cy="2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45"/>
              </a:lnSpc>
            </a:pPr>
            <a:r>
              <a:rPr sz="165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Paste text</a:t>
            </a:r>
          </a:p>
        </p:txBody>
      </p:sp>
      <p:sp>
        <p:nvSpPr>
          <p:cNvPr id="16" name="Shape 16"/>
          <p:cNvSpPr/>
          <p:nvPr/>
        </p:nvSpPr>
        <p:spPr>
          <a:xfrm>
            <a:off x="1152525" y="5743575"/>
            <a:ext cx="4286250" cy="523875"/>
          </a:xfrm>
          <a:custGeom>
            <a:avLst/>
            <a:gdLst/>
            <a:ahLst/>
            <a:cxnLst/>
            <a:rect l="0" t="0" r="450000" b="55000"/>
            <a:pathLst>
              <a:path w="450000" h="55000">
                <a:moveTo>
                  <a:pt x="4000" y="0"/>
                </a:moveTo>
                <a:lnTo>
                  <a:pt x="446000" y="0"/>
                </a:lnTo>
                <a:cubicBezTo>
                  <a:pt x="448210" y="0"/>
                  <a:pt x="450000" y="1790"/>
                  <a:pt x="450000" y="4000"/>
                </a:cubicBezTo>
                <a:lnTo>
                  <a:pt x="450000" y="51000"/>
                </a:lnTo>
                <a:cubicBezTo>
                  <a:pt x="450000" y="53210"/>
                  <a:pt x="448210" y="55000"/>
                  <a:pt x="446000" y="55000"/>
                </a:cubicBezTo>
                <a:lnTo>
                  <a:pt x="4000" y="55000"/>
                </a:lnTo>
                <a:cubicBezTo>
                  <a:pt x="1790" y="55000"/>
                  <a:pt x="0" y="53210"/>
                  <a:pt x="0" y="51000"/>
                </a:cubicBezTo>
                <a:lnTo>
                  <a:pt x="0" y="4000"/>
                </a:lnTo>
                <a:cubicBezTo>
                  <a:pt x="0" y="1790"/>
                  <a:pt x="1790" y="0"/>
                  <a:pt x="4000" y="0"/>
                </a:cubicBezTo>
                <a:close/>
              </a:path>
            </a:pathLst>
          </a:custGeom>
          <a:noFill/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1369219" y="5902375"/>
            <a:ext cx="157163" cy="209550"/>
          </a:xfrm>
          <a:custGeom>
            <a:avLst/>
            <a:gdLst/>
            <a:ahLst/>
            <a:cxnLst/>
            <a:rect l="0" t="0" r="16500" b="22000"/>
            <a:pathLst>
              <a:path w="16500" h="22000">
                <a:moveTo>
                  <a:pt x="8250" y="0"/>
                </a:moveTo>
                <a:cubicBezTo>
                  <a:pt x="5973" y="0"/>
                  <a:pt x="4125" y="1848"/>
                  <a:pt x="4125" y="4125"/>
                </a:cubicBezTo>
                <a:lnTo>
                  <a:pt x="4125" y="9625"/>
                </a:lnTo>
                <a:cubicBezTo>
                  <a:pt x="4125" y="11902"/>
                  <a:pt x="5973" y="13750"/>
                  <a:pt x="8250" y="13750"/>
                </a:cubicBezTo>
                <a:cubicBezTo>
                  <a:pt x="10527" y="13750"/>
                  <a:pt x="12375" y="11902"/>
                  <a:pt x="12375" y="9625"/>
                </a:cubicBezTo>
                <a:lnTo>
                  <a:pt x="12375" y="4125"/>
                </a:lnTo>
                <a:cubicBezTo>
                  <a:pt x="12375" y="1848"/>
                  <a:pt x="10527" y="0"/>
                  <a:pt x="8250" y="0"/>
                </a:cubicBezTo>
                <a:close/>
                <a:moveTo>
                  <a:pt x="2063" y="7906"/>
                </a:moveTo>
                <a:cubicBezTo>
                  <a:pt x="2063" y="7348"/>
                  <a:pt x="1590" y="6875"/>
                  <a:pt x="1031" y="6875"/>
                </a:cubicBezTo>
                <a:cubicBezTo>
                  <a:pt x="473" y="6875"/>
                  <a:pt x="0" y="7348"/>
                  <a:pt x="0" y="7906"/>
                </a:cubicBezTo>
                <a:lnTo>
                  <a:pt x="0" y="9625"/>
                </a:lnTo>
                <a:cubicBezTo>
                  <a:pt x="0" y="13836"/>
                  <a:pt x="3137" y="17316"/>
                  <a:pt x="7219" y="17832"/>
                </a:cubicBezTo>
                <a:lnTo>
                  <a:pt x="7219" y="19938"/>
                </a:lnTo>
                <a:lnTo>
                  <a:pt x="5156" y="19938"/>
                </a:lnTo>
                <a:cubicBezTo>
                  <a:pt x="4598" y="19938"/>
                  <a:pt x="4125" y="20410"/>
                  <a:pt x="4125" y="20969"/>
                </a:cubicBezTo>
                <a:cubicBezTo>
                  <a:pt x="4125" y="21527"/>
                  <a:pt x="4598" y="22000"/>
                  <a:pt x="5156" y="22000"/>
                </a:cubicBezTo>
                <a:lnTo>
                  <a:pt x="11344" y="22000"/>
                </a:lnTo>
                <a:cubicBezTo>
                  <a:pt x="11902" y="22000"/>
                  <a:pt x="12375" y="21527"/>
                  <a:pt x="12375" y="20969"/>
                </a:cubicBezTo>
                <a:cubicBezTo>
                  <a:pt x="12375" y="20410"/>
                  <a:pt x="11902" y="19938"/>
                  <a:pt x="11344" y="19938"/>
                </a:cubicBezTo>
                <a:lnTo>
                  <a:pt x="9281" y="19938"/>
                </a:lnTo>
                <a:lnTo>
                  <a:pt x="9281" y="17832"/>
                </a:lnTo>
                <a:cubicBezTo>
                  <a:pt x="13363" y="17316"/>
                  <a:pt x="16500" y="13836"/>
                  <a:pt x="16500" y="9625"/>
                </a:cubicBezTo>
                <a:lnTo>
                  <a:pt x="16500" y="7906"/>
                </a:lnTo>
                <a:cubicBezTo>
                  <a:pt x="16500" y="7348"/>
                  <a:pt x="16027" y="6875"/>
                  <a:pt x="15469" y="6875"/>
                </a:cubicBezTo>
                <a:cubicBezTo>
                  <a:pt x="14910" y="6875"/>
                  <a:pt x="14438" y="7348"/>
                  <a:pt x="14438" y="7906"/>
                </a:cubicBezTo>
                <a:lnTo>
                  <a:pt x="14438" y="9625"/>
                </a:lnTo>
                <a:cubicBezTo>
                  <a:pt x="14438" y="13063"/>
                  <a:pt x="11688" y="15813"/>
                  <a:pt x="8250" y="15813"/>
                </a:cubicBezTo>
                <a:cubicBezTo>
                  <a:pt x="4855" y="15813"/>
                  <a:pt x="2063" y="13063"/>
                  <a:pt x="2063" y="9625"/>
                </a:cubicBezTo>
                <a:lnTo>
                  <a:pt x="2063" y="7906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 18"/>
          <p:cNvSpPr txBox="1"/>
          <p:nvPr/>
        </p:nvSpPr>
        <p:spPr>
          <a:xfrm>
            <a:off x="1695450" y="5852902"/>
            <a:ext cx="2755999" cy="2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45"/>
              </a:lnSpc>
            </a:pPr>
            <a:r>
              <a:rPr sz="165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Attach a Hindi / English clip</a:t>
            </a:r>
          </a:p>
        </p:txBody>
      </p:sp>
      <p:sp>
        <p:nvSpPr>
          <p:cNvPr id="19" name="Shape 19"/>
          <p:cNvSpPr/>
          <p:nvPr/>
        </p:nvSpPr>
        <p:spPr>
          <a:xfrm>
            <a:off x="1152525" y="6381750"/>
            <a:ext cx="4286250" cy="523875"/>
          </a:xfrm>
          <a:custGeom>
            <a:avLst/>
            <a:gdLst/>
            <a:ahLst/>
            <a:cxnLst/>
            <a:rect l="0" t="0" r="450000" b="55000"/>
            <a:pathLst>
              <a:path w="450000" h="55000">
                <a:moveTo>
                  <a:pt x="4000" y="0"/>
                </a:moveTo>
                <a:lnTo>
                  <a:pt x="446000" y="0"/>
                </a:lnTo>
                <a:cubicBezTo>
                  <a:pt x="448210" y="0"/>
                  <a:pt x="450000" y="1790"/>
                  <a:pt x="450000" y="4000"/>
                </a:cubicBezTo>
                <a:lnTo>
                  <a:pt x="450000" y="51000"/>
                </a:lnTo>
                <a:cubicBezTo>
                  <a:pt x="450000" y="53210"/>
                  <a:pt x="448210" y="55000"/>
                  <a:pt x="446000" y="55000"/>
                </a:cubicBezTo>
                <a:lnTo>
                  <a:pt x="4000" y="55000"/>
                </a:lnTo>
                <a:cubicBezTo>
                  <a:pt x="1790" y="55000"/>
                  <a:pt x="0" y="53210"/>
                  <a:pt x="0" y="51000"/>
                </a:cubicBezTo>
                <a:lnTo>
                  <a:pt x="0" y="4000"/>
                </a:lnTo>
                <a:cubicBezTo>
                  <a:pt x="0" y="1790"/>
                  <a:pt x="1790" y="0"/>
                  <a:pt x="4000" y="0"/>
                </a:cubicBezTo>
                <a:close/>
              </a:path>
            </a:pathLst>
          </a:custGeom>
          <a:noFill/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Shape 20"/>
          <p:cNvSpPr/>
          <p:nvPr/>
        </p:nvSpPr>
        <p:spPr>
          <a:xfrm>
            <a:off x="1356122" y="6536680"/>
            <a:ext cx="183356" cy="209550"/>
          </a:xfrm>
          <a:custGeom>
            <a:avLst/>
            <a:gdLst/>
            <a:ahLst/>
            <a:cxnLst/>
            <a:rect l="0" t="0" r="19250" b="22000"/>
            <a:pathLst>
              <a:path w="19250" h="22000">
                <a:moveTo>
                  <a:pt x="2750" y="0"/>
                </a:moveTo>
                <a:cubicBezTo>
                  <a:pt x="1246" y="0"/>
                  <a:pt x="0" y="1424"/>
                  <a:pt x="0" y="3143"/>
                </a:cubicBezTo>
                <a:lnTo>
                  <a:pt x="0" y="18857"/>
                </a:lnTo>
                <a:cubicBezTo>
                  <a:pt x="0" y="20576"/>
                  <a:pt x="1246" y="22000"/>
                  <a:pt x="2750" y="22000"/>
                </a:cubicBezTo>
                <a:lnTo>
                  <a:pt x="16500" y="22000"/>
                </a:lnTo>
                <a:cubicBezTo>
                  <a:pt x="18004" y="22000"/>
                  <a:pt x="19250" y="20576"/>
                  <a:pt x="19250" y="18857"/>
                </a:cubicBezTo>
                <a:lnTo>
                  <a:pt x="19250" y="3143"/>
                </a:lnTo>
                <a:cubicBezTo>
                  <a:pt x="19250" y="1424"/>
                  <a:pt x="18004" y="0"/>
                  <a:pt x="16500" y="0"/>
                </a:cubicBezTo>
                <a:lnTo>
                  <a:pt x="2750" y="0"/>
                </a:lnTo>
                <a:close/>
                <a:moveTo>
                  <a:pt x="5500" y="3929"/>
                </a:moveTo>
                <a:cubicBezTo>
                  <a:pt x="6660" y="3929"/>
                  <a:pt x="7563" y="4960"/>
                  <a:pt x="7563" y="6286"/>
                </a:cubicBezTo>
                <a:cubicBezTo>
                  <a:pt x="7563" y="7612"/>
                  <a:pt x="6660" y="8643"/>
                  <a:pt x="5500" y="8643"/>
                </a:cubicBezTo>
                <a:cubicBezTo>
                  <a:pt x="4340" y="8643"/>
                  <a:pt x="3438" y="7612"/>
                  <a:pt x="3438" y="6286"/>
                </a:cubicBezTo>
                <a:cubicBezTo>
                  <a:pt x="3438" y="4960"/>
                  <a:pt x="4340" y="3929"/>
                  <a:pt x="5500" y="3929"/>
                </a:cubicBezTo>
                <a:close/>
                <a:moveTo>
                  <a:pt x="11688" y="9429"/>
                </a:moveTo>
                <a:cubicBezTo>
                  <a:pt x="12031" y="9429"/>
                  <a:pt x="12375" y="9625"/>
                  <a:pt x="12590" y="10018"/>
                </a:cubicBezTo>
                <a:lnTo>
                  <a:pt x="16371" y="17089"/>
                </a:lnTo>
                <a:cubicBezTo>
                  <a:pt x="16543" y="17433"/>
                  <a:pt x="16543" y="17875"/>
                  <a:pt x="16371" y="18268"/>
                </a:cubicBezTo>
                <a:cubicBezTo>
                  <a:pt x="16199" y="18612"/>
                  <a:pt x="15855" y="18857"/>
                  <a:pt x="15469" y="18857"/>
                </a:cubicBezTo>
                <a:lnTo>
                  <a:pt x="3781" y="18857"/>
                </a:lnTo>
                <a:cubicBezTo>
                  <a:pt x="3395" y="18857"/>
                  <a:pt x="3051" y="18612"/>
                  <a:pt x="2879" y="18219"/>
                </a:cubicBezTo>
                <a:cubicBezTo>
                  <a:pt x="2707" y="17826"/>
                  <a:pt x="2707" y="17384"/>
                  <a:pt x="2922" y="16991"/>
                </a:cubicBezTo>
                <a:lnTo>
                  <a:pt x="5328" y="13063"/>
                </a:lnTo>
                <a:cubicBezTo>
                  <a:pt x="5543" y="12768"/>
                  <a:pt x="5844" y="12571"/>
                  <a:pt x="6188" y="12571"/>
                </a:cubicBezTo>
                <a:cubicBezTo>
                  <a:pt x="6531" y="12571"/>
                  <a:pt x="6832" y="12768"/>
                  <a:pt x="7047" y="13063"/>
                </a:cubicBezTo>
                <a:lnTo>
                  <a:pt x="8164" y="14929"/>
                </a:lnTo>
                <a:lnTo>
                  <a:pt x="10828" y="10018"/>
                </a:lnTo>
                <a:cubicBezTo>
                  <a:pt x="11000" y="9674"/>
                  <a:pt x="11344" y="9429"/>
                  <a:pt x="11688" y="9429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 21"/>
          <p:cNvSpPr txBox="1"/>
          <p:nvPr/>
        </p:nvSpPr>
        <p:spPr>
          <a:xfrm>
            <a:off x="1695450" y="6487208"/>
            <a:ext cx="1851124" cy="2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45"/>
              </a:lnSpc>
            </a:pPr>
            <a:r>
              <a:rPr sz="165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Drop a screenshot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66775" y="7761344"/>
            <a:ext cx="4857750" cy="7179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2828"/>
              </a:lnSpc>
            </a:pPr>
            <a:r>
              <a:rPr sz="1950">
                <a:solidFill>
                  <a:srgbClr val="F1F5F9"/>
                </a:solidFill>
                <a:latin typeface="Inter"/>
                <a:ea typeface="Inter"/>
                <a:cs typeface="Inter"/>
              </a:rPr>
              <a:t>Paste text, attach a clip, or drop a screenshot.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981700" y="2432566"/>
            <a:ext cx="164603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 spc="18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02 · VERDICT</a:t>
            </a:r>
          </a:p>
        </p:txBody>
      </p:sp>
      <p:sp>
        <p:nvSpPr>
          <p:cNvPr id="24" name="Shape 24"/>
          <p:cNvSpPr/>
          <p:nvPr/>
        </p:nvSpPr>
        <p:spPr>
          <a:xfrm>
            <a:off x="5981700" y="2876550"/>
            <a:ext cx="6324600" cy="4772025"/>
          </a:xfrm>
          <a:custGeom>
            <a:avLst/>
            <a:gdLst/>
            <a:ahLst/>
            <a:cxnLst/>
            <a:rect l="0" t="0" r="664000" b="501000"/>
            <a:pathLst>
              <a:path w="664000" h="501000">
                <a:moveTo>
                  <a:pt x="14000" y="0"/>
                </a:moveTo>
                <a:lnTo>
                  <a:pt x="650000" y="0"/>
                </a:lnTo>
                <a:cubicBezTo>
                  <a:pt x="657730" y="0"/>
                  <a:pt x="664000" y="6270"/>
                  <a:pt x="664000" y="14000"/>
                </a:cubicBezTo>
                <a:lnTo>
                  <a:pt x="664000" y="487000"/>
                </a:lnTo>
                <a:cubicBezTo>
                  <a:pt x="664000" y="494730"/>
                  <a:pt x="657730" y="501000"/>
                  <a:pt x="650000" y="501000"/>
                </a:cubicBezTo>
                <a:lnTo>
                  <a:pt x="14000" y="501000"/>
                </a:lnTo>
                <a:cubicBezTo>
                  <a:pt x="6270" y="501000"/>
                  <a:pt x="0" y="494730"/>
                  <a:pt x="0" y="487000"/>
                </a:cubicBezTo>
                <a:lnTo>
                  <a:pt x="0" y="14000"/>
                </a:lnTo>
                <a:cubicBezTo>
                  <a:pt x="0" y="6270"/>
                  <a:pt x="6270" y="0"/>
                  <a:pt x="14000" y="0"/>
                </a:cubicBezTo>
                <a:close/>
              </a:path>
            </a:pathLst>
          </a:custGeom>
          <a:solidFill>
            <a:srgbClr val="0A0F1D"/>
          </a:solidFill>
          <a:ln w="9525" cap="flat" algn="in">
            <a:solidFill>
              <a:srgbClr val="2B3A5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Shape 25"/>
          <p:cNvSpPr/>
          <p:nvPr/>
        </p:nvSpPr>
        <p:spPr>
          <a:xfrm>
            <a:off x="5991225" y="2886075"/>
            <a:ext cx="6305550" cy="504825"/>
          </a:xfrm>
          <a:custGeom>
            <a:avLst/>
            <a:gdLst/>
            <a:ahLst/>
            <a:cxnLst/>
            <a:rect l="0" t="0" r="662000" b="53000"/>
            <a:pathLst>
              <a:path w="662000" h="53000">
                <a:moveTo>
                  <a:pt x="0" y="0"/>
                </a:moveTo>
                <a:lnTo>
                  <a:pt x="662000" y="0"/>
                </a:lnTo>
                <a:lnTo>
                  <a:pt x="662000" y="53000"/>
                </a:lnTo>
                <a:lnTo>
                  <a:pt x="0" y="53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5991225" y="2886075"/>
            <a:ext cx="6305550" cy="504825"/>
          </a:xfrm>
          <a:custGeom>
            <a:avLst/>
            <a:gdLst/>
            <a:ahLst/>
            <a:cxnLst/>
            <a:rect l="0" t="0" r="662000" b="53000"/>
            <a:pathLst>
              <a:path w="662000" h="53000">
                <a:moveTo>
                  <a:pt x="662000" y="53000"/>
                </a:moveTo>
                <a:lnTo>
                  <a:pt x="0" y="53000"/>
                </a:lnTo>
              </a:path>
            </a:pathLst>
          </a:custGeom>
          <a:noFill/>
          <a:ln w="9525" cap="flat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Text 27"/>
          <p:cNvSpPr txBox="1"/>
          <p:nvPr/>
        </p:nvSpPr>
        <p:spPr>
          <a:xfrm>
            <a:off x="6181725" y="2975491"/>
            <a:ext cx="155451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 spc="12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VERDICT CARD</a:t>
            </a:r>
          </a:p>
        </p:txBody>
      </p:sp>
      <p:sp>
        <p:nvSpPr>
          <p:cNvPr id="28" name="Shape 28"/>
          <p:cNvSpPr/>
          <p:nvPr/>
        </p:nvSpPr>
        <p:spPr>
          <a:xfrm>
            <a:off x="6257925" y="3657600"/>
            <a:ext cx="1200150" cy="447675"/>
          </a:xfrm>
          <a:custGeom>
            <a:avLst/>
            <a:gdLst/>
            <a:ahLst/>
            <a:cxnLst/>
            <a:rect l="0" t="0" r="126000" b="47000"/>
            <a:pathLst>
              <a:path w="126000" h="47000">
                <a:moveTo>
                  <a:pt x="23500" y="0"/>
                </a:moveTo>
                <a:lnTo>
                  <a:pt x="102500" y="0"/>
                </a:lnTo>
                <a:cubicBezTo>
                  <a:pt x="115480" y="0"/>
                  <a:pt x="126000" y="10520"/>
                  <a:pt x="126000" y="23500"/>
                </a:cubicBezTo>
                <a:lnTo>
                  <a:pt x="126000" y="23500"/>
                </a:lnTo>
                <a:cubicBezTo>
                  <a:pt x="126000" y="36480"/>
                  <a:pt x="115480" y="47000"/>
                  <a:pt x="102500" y="47000"/>
                </a:cubicBezTo>
                <a:lnTo>
                  <a:pt x="23500" y="47000"/>
                </a:lnTo>
                <a:cubicBezTo>
                  <a:pt x="10520" y="47000"/>
                  <a:pt x="0" y="36480"/>
                  <a:pt x="0" y="23500"/>
                </a:cubicBezTo>
                <a:lnTo>
                  <a:pt x="0" y="23500"/>
                </a:lnTo>
                <a:cubicBezTo>
                  <a:pt x="0" y="10520"/>
                  <a:pt x="10520" y="0"/>
                  <a:pt x="23500" y="0"/>
                </a:cubicBezTo>
                <a:close/>
              </a:path>
            </a:pathLst>
          </a:custGeom>
          <a:solidFill>
            <a:srgbClr val="EF4444">
              <a:alpha val="16078"/>
            </a:srgbClr>
          </a:solidFill>
          <a:ln w="9525" cap="flat" algn="in">
            <a:solidFill>
              <a:srgbClr val="F8717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6460331" y="3786932"/>
            <a:ext cx="192732" cy="180975"/>
          </a:xfrm>
          <a:custGeom>
            <a:avLst/>
            <a:gdLst/>
            <a:ahLst/>
            <a:cxnLst/>
            <a:rect l="0" t="0" r="20234" b="19000"/>
            <a:pathLst>
              <a:path w="20234" h="19000">
                <a:moveTo>
                  <a:pt x="10117" y="0"/>
                </a:moveTo>
                <a:cubicBezTo>
                  <a:pt x="10710" y="0"/>
                  <a:pt x="11223" y="317"/>
                  <a:pt x="11500" y="831"/>
                </a:cubicBezTo>
                <a:lnTo>
                  <a:pt x="20032" y="16665"/>
                </a:lnTo>
                <a:cubicBezTo>
                  <a:pt x="20308" y="17140"/>
                  <a:pt x="20308" y="17733"/>
                  <a:pt x="19992" y="18248"/>
                </a:cubicBezTo>
                <a:cubicBezTo>
                  <a:pt x="19716" y="18723"/>
                  <a:pt x="19202" y="19000"/>
                  <a:pt x="18649" y="19000"/>
                </a:cubicBezTo>
                <a:lnTo>
                  <a:pt x="1585" y="19000"/>
                </a:lnTo>
                <a:cubicBezTo>
                  <a:pt x="1032" y="19000"/>
                  <a:pt x="519" y="18723"/>
                  <a:pt x="242" y="18248"/>
                </a:cubicBezTo>
                <a:cubicBezTo>
                  <a:pt x="-74" y="17733"/>
                  <a:pt x="-74" y="17140"/>
                  <a:pt x="203" y="16665"/>
                </a:cubicBezTo>
                <a:lnTo>
                  <a:pt x="8735" y="831"/>
                </a:lnTo>
                <a:cubicBezTo>
                  <a:pt x="9011" y="317"/>
                  <a:pt x="9525" y="0"/>
                  <a:pt x="10117" y="0"/>
                </a:cubicBezTo>
                <a:close/>
                <a:moveTo>
                  <a:pt x="10117" y="13933"/>
                </a:moveTo>
                <a:cubicBezTo>
                  <a:pt x="9406" y="13933"/>
                  <a:pt x="8853" y="14487"/>
                  <a:pt x="8853" y="15200"/>
                </a:cubicBezTo>
                <a:cubicBezTo>
                  <a:pt x="8853" y="15913"/>
                  <a:pt x="9406" y="16467"/>
                  <a:pt x="10117" y="16467"/>
                </a:cubicBezTo>
                <a:cubicBezTo>
                  <a:pt x="10828" y="16467"/>
                  <a:pt x="11381" y="15913"/>
                  <a:pt x="11381" y="15200"/>
                </a:cubicBezTo>
                <a:cubicBezTo>
                  <a:pt x="11381" y="14487"/>
                  <a:pt x="10828" y="13933"/>
                  <a:pt x="10117" y="13933"/>
                </a:cubicBezTo>
                <a:close/>
                <a:moveTo>
                  <a:pt x="10117" y="6333"/>
                </a:moveTo>
                <a:cubicBezTo>
                  <a:pt x="9406" y="6333"/>
                  <a:pt x="8814" y="6967"/>
                  <a:pt x="8893" y="7679"/>
                </a:cubicBezTo>
                <a:lnTo>
                  <a:pt x="9169" y="11796"/>
                </a:lnTo>
                <a:cubicBezTo>
                  <a:pt x="9209" y="12271"/>
                  <a:pt x="9604" y="12667"/>
                  <a:pt x="10117" y="12667"/>
                </a:cubicBezTo>
                <a:cubicBezTo>
                  <a:pt x="10631" y="12667"/>
                  <a:pt x="11026" y="12271"/>
                  <a:pt x="11065" y="11796"/>
                </a:cubicBezTo>
                <a:lnTo>
                  <a:pt x="11342" y="7679"/>
                </a:lnTo>
                <a:cubicBezTo>
                  <a:pt x="11421" y="6967"/>
                  <a:pt x="10828" y="6333"/>
                  <a:pt x="10117" y="6333"/>
                </a:cubicBezTo>
                <a:close/>
              </a:path>
            </a:pathLst>
          </a:custGeom>
          <a:solidFill>
            <a:srgbClr val="F8717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Text 30"/>
          <p:cNvSpPr txBox="1"/>
          <p:nvPr/>
        </p:nvSpPr>
        <p:spPr>
          <a:xfrm>
            <a:off x="6769894" y="3716564"/>
            <a:ext cx="506016" cy="2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b="1">
                <a:solidFill>
                  <a:srgbClr val="F87171"/>
                </a:solidFill>
                <a:latin typeface="Inter"/>
                <a:ea typeface="Inter"/>
                <a:cs typeface="Inter"/>
              </a:rPr>
              <a:t>Sells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0201275" y="3711744"/>
            <a:ext cx="18288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75"/>
              </a:lnSpc>
            </a:pPr>
            <a:r>
              <a:rPr sz="150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2 claims flagged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257925" y="4320127"/>
            <a:ext cx="994321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75"/>
              </a:lnSpc>
            </a:pPr>
            <a:r>
              <a:rPr sz="1500">
                <a:solidFill>
                  <a:srgbClr val="94A3B8"/>
                </a:solidFill>
                <a:latin typeface="Inter"/>
                <a:ea typeface="Inter"/>
                <a:cs typeface="Inter"/>
              </a:rPr>
              <a:t>This post…</a:t>
            </a:r>
          </a:p>
        </p:txBody>
      </p:sp>
      <p:sp>
        <p:nvSpPr>
          <p:cNvPr id="33" name="Shape 33"/>
          <p:cNvSpPr/>
          <p:nvPr/>
        </p:nvSpPr>
        <p:spPr>
          <a:xfrm>
            <a:off x="6257925" y="4743450"/>
            <a:ext cx="1838325" cy="533400"/>
          </a:xfrm>
          <a:custGeom>
            <a:avLst/>
            <a:gdLst/>
            <a:ahLst/>
            <a:cxnLst/>
            <a:rect l="0" t="0" r="193000" b="56000"/>
            <a:pathLst>
              <a:path w="193000" h="56000">
                <a:moveTo>
                  <a:pt x="4000" y="0"/>
                </a:moveTo>
                <a:lnTo>
                  <a:pt x="189000" y="0"/>
                </a:lnTo>
                <a:cubicBezTo>
                  <a:pt x="191210" y="0"/>
                  <a:pt x="193000" y="1790"/>
                  <a:pt x="193000" y="4000"/>
                </a:cubicBezTo>
                <a:lnTo>
                  <a:pt x="193000" y="52000"/>
                </a:lnTo>
                <a:cubicBezTo>
                  <a:pt x="193000" y="54210"/>
                  <a:pt x="191210" y="56000"/>
                  <a:pt x="189000" y="56000"/>
                </a:cubicBezTo>
                <a:lnTo>
                  <a:pt x="4000" y="56000"/>
                </a:lnTo>
                <a:cubicBezTo>
                  <a:pt x="1790" y="56000"/>
                  <a:pt x="0" y="54210"/>
                  <a:pt x="0" y="52000"/>
                </a:cubicBezTo>
                <a:lnTo>
                  <a:pt x="0" y="4000"/>
                </a:lnTo>
                <a:cubicBezTo>
                  <a:pt x="0" y="1790"/>
                  <a:pt x="1790" y="0"/>
                  <a:pt x="4000" y="0"/>
                </a:cubicBezTo>
                <a:close/>
              </a:path>
            </a:pathLst>
          </a:custGeom>
          <a:noFill/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 34"/>
          <p:cNvSpPr txBox="1"/>
          <p:nvPr/>
        </p:nvSpPr>
        <p:spPr>
          <a:xfrm>
            <a:off x="6749802" y="4837597"/>
            <a:ext cx="857696" cy="3104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ts val="2145"/>
              </a:lnSpc>
            </a:pPr>
            <a:r>
              <a:rPr sz="16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Teaches</a:t>
            </a:r>
          </a:p>
        </p:txBody>
      </p:sp>
      <p:sp>
        <p:nvSpPr>
          <p:cNvPr id="35" name="Shape 35"/>
          <p:cNvSpPr/>
          <p:nvPr/>
        </p:nvSpPr>
        <p:spPr>
          <a:xfrm>
            <a:off x="8210550" y="4743450"/>
            <a:ext cx="1866900" cy="533400"/>
          </a:xfrm>
          <a:custGeom>
            <a:avLst/>
            <a:gdLst/>
            <a:ahLst/>
            <a:cxnLst/>
            <a:rect l="0" t="0" r="196000" b="56000"/>
            <a:pathLst>
              <a:path w="196000" h="56000">
                <a:moveTo>
                  <a:pt x="4000" y="0"/>
                </a:moveTo>
                <a:lnTo>
                  <a:pt x="192000" y="0"/>
                </a:lnTo>
                <a:cubicBezTo>
                  <a:pt x="194210" y="0"/>
                  <a:pt x="196000" y="1790"/>
                  <a:pt x="196000" y="4000"/>
                </a:cubicBezTo>
                <a:lnTo>
                  <a:pt x="196000" y="52000"/>
                </a:lnTo>
                <a:cubicBezTo>
                  <a:pt x="196000" y="54210"/>
                  <a:pt x="194210" y="56000"/>
                  <a:pt x="192000" y="56000"/>
                </a:cubicBezTo>
                <a:lnTo>
                  <a:pt x="4000" y="56000"/>
                </a:lnTo>
                <a:cubicBezTo>
                  <a:pt x="1790" y="56000"/>
                  <a:pt x="0" y="54210"/>
                  <a:pt x="0" y="52000"/>
                </a:cubicBezTo>
                <a:lnTo>
                  <a:pt x="0" y="4000"/>
                </a:lnTo>
                <a:cubicBezTo>
                  <a:pt x="0" y="1790"/>
                  <a:pt x="1790" y="0"/>
                  <a:pt x="4000" y="0"/>
                </a:cubicBezTo>
                <a:close/>
              </a:path>
            </a:pathLst>
          </a:custGeom>
          <a:solidFill>
            <a:srgbClr val="EF4444">
              <a:alpha val="16078"/>
            </a:srgbClr>
          </a:solidFill>
          <a:ln w="19050" cap="flat" algn="in">
            <a:solidFill>
              <a:srgbClr val="EF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Text 36"/>
          <p:cNvSpPr txBox="1"/>
          <p:nvPr/>
        </p:nvSpPr>
        <p:spPr>
          <a:xfrm>
            <a:off x="8901410" y="4856647"/>
            <a:ext cx="485031" cy="2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ts val="2145"/>
              </a:lnSpc>
            </a:pPr>
            <a:r>
              <a:rPr sz="1650" b="1">
                <a:solidFill>
                  <a:srgbClr val="F87171"/>
                </a:solidFill>
                <a:latin typeface="Inter"/>
                <a:ea typeface="Inter"/>
                <a:cs typeface="Inter"/>
              </a:rPr>
              <a:t>Sells</a:t>
            </a:r>
          </a:p>
        </p:txBody>
      </p:sp>
      <p:sp>
        <p:nvSpPr>
          <p:cNvPr id="37" name="Shape 37"/>
          <p:cNvSpPr/>
          <p:nvPr/>
        </p:nvSpPr>
        <p:spPr>
          <a:xfrm>
            <a:off x="10191750" y="4743450"/>
            <a:ext cx="1838325" cy="533400"/>
          </a:xfrm>
          <a:custGeom>
            <a:avLst/>
            <a:gdLst/>
            <a:ahLst/>
            <a:cxnLst/>
            <a:rect l="0" t="0" r="193000" b="56000"/>
            <a:pathLst>
              <a:path w="193000" h="56000">
                <a:moveTo>
                  <a:pt x="4000" y="0"/>
                </a:moveTo>
                <a:lnTo>
                  <a:pt x="189000" y="0"/>
                </a:lnTo>
                <a:cubicBezTo>
                  <a:pt x="191210" y="0"/>
                  <a:pt x="193000" y="1790"/>
                  <a:pt x="193000" y="4000"/>
                </a:cubicBezTo>
                <a:lnTo>
                  <a:pt x="193000" y="52000"/>
                </a:lnTo>
                <a:cubicBezTo>
                  <a:pt x="193000" y="54210"/>
                  <a:pt x="191210" y="56000"/>
                  <a:pt x="189000" y="56000"/>
                </a:cubicBezTo>
                <a:lnTo>
                  <a:pt x="4000" y="56000"/>
                </a:lnTo>
                <a:cubicBezTo>
                  <a:pt x="1790" y="56000"/>
                  <a:pt x="0" y="54210"/>
                  <a:pt x="0" y="52000"/>
                </a:cubicBezTo>
                <a:lnTo>
                  <a:pt x="0" y="4000"/>
                </a:lnTo>
                <a:cubicBezTo>
                  <a:pt x="0" y="1790"/>
                  <a:pt x="1790" y="0"/>
                  <a:pt x="4000" y="0"/>
                </a:cubicBezTo>
                <a:close/>
              </a:path>
            </a:pathLst>
          </a:custGeom>
          <a:noFill/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Text 38"/>
          <p:cNvSpPr txBox="1"/>
          <p:nvPr/>
        </p:nvSpPr>
        <p:spPr>
          <a:xfrm>
            <a:off x="10551170" y="4837597"/>
            <a:ext cx="1115913" cy="3104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ctr">
              <a:lnSpc>
                <a:spcPts val="2145"/>
              </a:lnSpc>
            </a:pPr>
            <a:r>
              <a:rPr sz="16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Mixes both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257925" y="5525932"/>
            <a:ext cx="1161604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75"/>
              </a:lnSpc>
            </a:pPr>
            <a:r>
              <a:rPr sz="1500">
                <a:solidFill>
                  <a:srgbClr val="94A3B8"/>
                </a:solidFill>
                <a:latin typeface="Inter"/>
                <a:ea typeface="Inter"/>
                <a:cs typeface="Inter"/>
              </a:rPr>
              <a:t>Caution level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1481346" y="5507498"/>
            <a:ext cx="548729" cy="297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F87171"/>
                </a:solidFill>
                <a:latin typeface="JetBrains Mono"/>
                <a:ea typeface="JetBrains Mono"/>
                <a:cs typeface="JetBrains Mono"/>
              </a:rPr>
              <a:t>HIGH</a:t>
            </a:r>
          </a:p>
        </p:txBody>
      </p:sp>
      <p:sp>
        <p:nvSpPr>
          <p:cNvPr id="41" name="Shape 41"/>
          <p:cNvSpPr/>
          <p:nvPr/>
        </p:nvSpPr>
        <p:spPr>
          <a:xfrm>
            <a:off x="6257925" y="5943600"/>
            <a:ext cx="1876425" cy="152400"/>
          </a:xfrm>
          <a:custGeom>
            <a:avLst/>
            <a:gdLst/>
            <a:ahLst/>
            <a:cxnLst/>
            <a:rect l="0" t="0" r="197000" b="16000"/>
            <a:pathLst>
              <a:path w="197000" h="16000">
                <a:moveTo>
                  <a:pt x="4000" y="0"/>
                </a:moveTo>
                <a:lnTo>
                  <a:pt x="193000" y="0"/>
                </a:lnTo>
                <a:cubicBezTo>
                  <a:pt x="195210" y="0"/>
                  <a:pt x="197000" y="1790"/>
                  <a:pt x="197000" y="4000"/>
                </a:cubicBezTo>
                <a:lnTo>
                  <a:pt x="197000" y="12000"/>
                </a:lnTo>
                <a:cubicBezTo>
                  <a:pt x="197000" y="14210"/>
                  <a:pt x="195210" y="16000"/>
                  <a:pt x="193000" y="16000"/>
                </a:cubicBezTo>
                <a:lnTo>
                  <a:pt x="4000" y="16000"/>
                </a:lnTo>
                <a:cubicBezTo>
                  <a:pt x="1790" y="16000"/>
                  <a:pt x="0" y="14210"/>
                  <a:pt x="0" y="12000"/>
                </a:cubicBezTo>
                <a:lnTo>
                  <a:pt x="0" y="4000"/>
                </a:lnTo>
                <a:cubicBezTo>
                  <a:pt x="0" y="1790"/>
                  <a:pt x="1790" y="0"/>
                  <a:pt x="4000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Shape 42"/>
          <p:cNvSpPr/>
          <p:nvPr/>
        </p:nvSpPr>
        <p:spPr>
          <a:xfrm>
            <a:off x="8210550" y="5943600"/>
            <a:ext cx="1866900" cy="152400"/>
          </a:xfrm>
          <a:custGeom>
            <a:avLst/>
            <a:gdLst/>
            <a:ahLst/>
            <a:cxnLst/>
            <a:rect l="0" t="0" r="196000" b="16000"/>
            <a:pathLst>
              <a:path w="196000" h="16000">
                <a:moveTo>
                  <a:pt x="4000" y="0"/>
                </a:moveTo>
                <a:lnTo>
                  <a:pt x="192000" y="0"/>
                </a:lnTo>
                <a:cubicBezTo>
                  <a:pt x="194210" y="0"/>
                  <a:pt x="196000" y="1790"/>
                  <a:pt x="196000" y="4000"/>
                </a:cubicBezTo>
                <a:lnTo>
                  <a:pt x="196000" y="12000"/>
                </a:lnTo>
                <a:cubicBezTo>
                  <a:pt x="196000" y="14210"/>
                  <a:pt x="194210" y="16000"/>
                  <a:pt x="192000" y="16000"/>
                </a:cubicBezTo>
                <a:lnTo>
                  <a:pt x="4000" y="16000"/>
                </a:lnTo>
                <a:cubicBezTo>
                  <a:pt x="1790" y="16000"/>
                  <a:pt x="0" y="14210"/>
                  <a:pt x="0" y="12000"/>
                </a:cubicBezTo>
                <a:lnTo>
                  <a:pt x="0" y="4000"/>
                </a:lnTo>
                <a:cubicBezTo>
                  <a:pt x="0" y="1790"/>
                  <a:pt x="1790" y="0"/>
                  <a:pt x="400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Shape 43"/>
          <p:cNvSpPr/>
          <p:nvPr/>
        </p:nvSpPr>
        <p:spPr>
          <a:xfrm>
            <a:off x="10153650" y="5943600"/>
            <a:ext cx="1876425" cy="152400"/>
          </a:xfrm>
          <a:custGeom>
            <a:avLst/>
            <a:gdLst/>
            <a:ahLst/>
            <a:cxnLst/>
            <a:rect l="0" t="0" r="197000" b="16000"/>
            <a:pathLst>
              <a:path w="197000" h="16000">
                <a:moveTo>
                  <a:pt x="4000" y="0"/>
                </a:moveTo>
                <a:lnTo>
                  <a:pt x="193000" y="0"/>
                </a:lnTo>
                <a:cubicBezTo>
                  <a:pt x="195210" y="0"/>
                  <a:pt x="197000" y="1790"/>
                  <a:pt x="197000" y="4000"/>
                </a:cubicBezTo>
                <a:lnTo>
                  <a:pt x="197000" y="12000"/>
                </a:lnTo>
                <a:cubicBezTo>
                  <a:pt x="197000" y="14210"/>
                  <a:pt x="195210" y="16000"/>
                  <a:pt x="193000" y="16000"/>
                </a:cubicBezTo>
                <a:lnTo>
                  <a:pt x="4000" y="16000"/>
                </a:lnTo>
                <a:cubicBezTo>
                  <a:pt x="1790" y="16000"/>
                  <a:pt x="0" y="14210"/>
                  <a:pt x="0" y="12000"/>
                </a:cubicBezTo>
                <a:lnTo>
                  <a:pt x="0" y="4000"/>
                </a:lnTo>
                <a:cubicBezTo>
                  <a:pt x="0" y="1790"/>
                  <a:pt x="1790" y="0"/>
                  <a:pt x="4000" y="0"/>
                </a:cubicBezTo>
                <a:close/>
              </a:path>
            </a:pathLst>
          </a:custGeom>
          <a:solidFill>
            <a:srgbClr val="EF44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Text 44"/>
          <p:cNvSpPr txBox="1"/>
          <p:nvPr/>
        </p:nvSpPr>
        <p:spPr>
          <a:xfrm>
            <a:off x="6257925" y="6183157"/>
            <a:ext cx="374452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75"/>
              </a:lnSpc>
            </a:pPr>
            <a:r>
              <a:rPr sz="1500">
                <a:solidFill>
                  <a:srgbClr val="94A3B8"/>
                </a:solidFill>
                <a:latin typeface="Inter"/>
                <a:ea typeface="Inter"/>
                <a:cs typeface="Inter"/>
              </a:rPr>
              <a:t>Low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8759726" y="6183157"/>
            <a:ext cx="725537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75"/>
              </a:lnSpc>
            </a:pPr>
            <a:r>
              <a:rPr sz="1500">
                <a:solidFill>
                  <a:srgbClr val="94A3B8"/>
                </a:solidFill>
                <a:latin typeface="Inter"/>
                <a:ea typeface="Inter"/>
                <a:cs typeface="Inter"/>
              </a:rPr>
              <a:t>Medium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11612612" y="6183157"/>
            <a:ext cx="417314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75"/>
              </a:lnSpc>
            </a:pPr>
            <a:r>
              <a:rPr sz="1500">
                <a:solidFill>
                  <a:srgbClr val="F87171"/>
                </a:solidFill>
                <a:latin typeface="Inter"/>
                <a:ea typeface="Inter"/>
                <a:cs typeface="Inter"/>
              </a:rPr>
              <a:t>High</a:t>
            </a:r>
          </a:p>
        </p:txBody>
      </p:sp>
      <p:sp>
        <p:nvSpPr>
          <p:cNvPr id="47" name="Shape 47"/>
          <p:cNvSpPr/>
          <p:nvPr/>
        </p:nvSpPr>
        <p:spPr>
          <a:xfrm>
            <a:off x="6257925" y="6734175"/>
            <a:ext cx="5772150" cy="447675"/>
          </a:xfrm>
          <a:custGeom>
            <a:avLst/>
            <a:gdLst/>
            <a:ahLst/>
            <a:cxnLst/>
            <a:rect l="0" t="0" r="606000" b="47000"/>
            <a:pathLst>
              <a:path w="606000" h="47000">
                <a:moveTo>
                  <a:pt x="0" y="0"/>
                </a:moveTo>
                <a:lnTo>
                  <a:pt x="606000" y="0"/>
                </a:lnTo>
                <a:lnTo>
                  <a:pt x="606000" y="47000"/>
                </a:lnTo>
                <a:lnTo>
                  <a:pt x="0" y="47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6257925" y="6734175"/>
            <a:ext cx="5772150" cy="447675"/>
          </a:xfrm>
          <a:custGeom>
            <a:avLst/>
            <a:gdLst/>
            <a:ahLst/>
            <a:cxnLst/>
            <a:rect l="0" t="0" r="606000" b="47000"/>
            <a:pathLst>
              <a:path w="606000" h="47000">
                <a:moveTo>
                  <a:pt x="0" y="0"/>
                </a:moveTo>
                <a:lnTo>
                  <a:pt x="606000" y="0"/>
                </a:lnTo>
              </a:path>
            </a:pathLst>
          </a:custGeom>
          <a:noFill/>
          <a:ln w="9525" cap="flat">
            <a:solidFill>
              <a:srgbClr val="2B3A5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Shape 49"/>
          <p:cNvSpPr/>
          <p:nvPr/>
        </p:nvSpPr>
        <p:spPr>
          <a:xfrm>
            <a:off x="6269831" y="6947297"/>
            <a:ext cx="214313" cy="200025"/>
          </a:xfrm>
          <a:custGeom>
            <a:avLst/>
            <a:gdLst/>
            <a:ahLst/>
            <a:cxnLst/>
            <a:rect l="0" t="0" r="22500" b="21000"/>
            <a:pathLst>
              <a:path w="22500" h="21000">
                <a:moveTo>
                  <a:pt x="16406" y="3000"/>
                </a:moveTo>
                <a:cubicBezTo>
                  <a:pt x="15742" y="3000"/>
                  <a:pt x="15117" y="3234"/>
                  <a:pt x="14570" y="3609"/>
                </a:cubicBezTo>
                <a:cubicBezTo>
                  <a:pt x="13945" y="2859"/>
                  <a:pt x="13242" y="2203"/>
                  <a:pt x="12422" y="1734"/>
                </a:cubicBezTo>
                <a:cubicBezTo>
                  <a:pt x="13516" y="609"/>
                  <a:pt x="14922" y="0"/>
                  <a:pt x="16406" y="0"/>
                </a:cubicBezTo>
                <a:cubicBezTo>
                  <a:pt x="19766" y="0"/>
                  <a:pt x="22500" y="3281"/>
                  <a:pt x="22500" y="7359"/>
                </a:cubicBezTo>
                <a:cubicBezTo>
                  <a:pt x="22500" y="9281"/>
                  <a:pt x="21875" y="11156"/>
                  <a:pt x="20703" y="12516"/>
                </a:cubicBezTo>
                <a:lnTo>
                  <a:pt x="17930" y="15844"/>
                </a:lnTo>
                <a:cubicBezTo>
                  <a:pt x="16797" y="17250"/>
                  <a:pt x="15234" y="18000"/>
                  <a:pt x="13633" y="18000"/>
                </a:cubicBezTo>
                <a:cubicBezTo>
                  <a:pt x="10234" y="18000"/>
                  <a:pt x="7500" y="14719"/>
                  <a:pt x="7500" y="10688"/>
                </a:cubicBezTo>
                <a:lnTo>
                  <a:pt x="7500" y="10453"/>
                </a:lnTo>
                <a:cubicBezTo>
                  <a:pt x="7539" y="9609"/>
                  <a:pt x="8086" y="8953"/>
                  <a:pt x="8789" y="9000"/>
                </a:cubicBezTo>
                <a:cubicBezTo>
                  <a:pt x="9492" y="9000"/>
                  <a:pt x="10039" y="9703"/>
                  <a:pt x="10000" y="10547"/>
                </a:cubicBezTo>
                <a:lnTo>
                  <a:pt x="10000" y="10641"/>
                </a:lnTo>
                <a:cubicBezTo>
                  <a:pt x="10000" y="13078"/>
                  <a:pt x="11641" y="15000"/>
                  <a:pt x="13633" y="15000"/>
                </a:cubicBezTo>
                <a:cubicBezTo>
                  <a:pt x="14570" y="15000"/>
                  <a:pt x="15508" y="14531"/>
                  <a:pt x="16172" y="13734"/>
                </a:cubicBezTo>
                <a:lnTo>
                  <a:pt x="18945" y="10406"/>
                </a:lnTo>
                <a:cubicBezTo>
                  <a:pt x="19609" y="9563"/>
                  <a:pt x="20000" y="8484"/>
                  <a:pt x="20000" y="7313"/>
                </a:cubicBezTo>
                <a:cubicBezTo>
                  <a:pt x="20000" y="4922"/>
                  <a:pt x="18398" y="3000"/>
                  <a:pt x="16406" y="3000"/>
                </a:cubicBezTo>
                <a:close/>
                <a:moveTo>
                  <a:pt x="10742" y="6609"/>
                </a:moveTo>
                <a:cubicBezTo>
                  <a:pt x="10664" y="6609"/>
                  <a:pt x="10586" y="6516"/>
                  <a:pt x="10547" y="6469"/>
                </a:cubicBezTo>
                <a:cubicBezTo>
                  <a:pt x="10039" y="6188"/>
                  <a:pt x="9492" y="6000"/>
                  <a:pt x="8906" y="6000"/>
                </a:cubicBezTo>
                <a:cubicBezTo>
                  <a:pt x="7930" y="6000"/>
                  <a:pt x="7031" y="6469"/>
                  <a:pt x="6328" y="7266"/>
                </a:cubicBezTo>
                <a:lnTo>
                  <a:pt x="3555" y="10594"/>
                </a:lnTo>
                <a:cubicBezTo>
                  <a:pt x="2891" y="11438"/>
                  <a:pt x="2500" y="12516"/>
                  <a:pt x="2500" y="13688"/>
                </a:cubicBezTo>
                <a:cubicBezTo>
                  <a:pt x="2500" y="16078"/>
                  <a:pt x="4102" y="18000"/>
                  <a:pt x="6133" y="18000"/>
                </a:cubicBezTo>
                <a:cubicBezTo>
                  <a:pt x="6758" y="18000"/>
                  <a:pt x="7383" y="17813"/>
                  <a:pt x="7930" y="17438"/>
                </a:cubicBezTo>
                <a:cubicBezTo>
                  <a:pt x="8555" y="18188"/>
                  <a:pt x="9258" y="18797"/>
                  <a:pt x="10078" y="19266"/>
                </a:cubicBezTo>
                <a:cubicBezTo>
                  <a:pt x="8984" y="20391"/>
                  <a:pt x="7578" y="21000"/>
                  <a:pt x="6133" y="21000"/>
                </a:cubicBezTo>
                <a:cubicBezTo>
                  <a:pt x="2734" y="21000"/>
                  <a:pt x="0" y="17719"/>
                  <a:pt x="0" y="13688"/>
                </a:cubicBezTo>
                <a:cubicBezTo>
                  <a:pt x="0" y="11719"/>
                  <a:pt x="664" y="9844"/>
                  <a:pt x="1797" y="8484"/>
                </a:cubicBezTo>
                <a:lnTo>
                  <a:pt x="4570" y="5156"/>
                </a:lnTo>
                <a:cubicBezTo>
                  <a:pt x="5703" y="3797"/>
                  <a:pt x="7266" y="3000"/>
                  <a:pt x="8906" y="3000"/>
                </a:cubicBezTo>
                <a:cubicBezTo>
                  <a:pt x="12266" y="3000"/>
                  <a:pt x="15000" y="6328"/>
                  <a:pt x="15000" y="10359"/>
                </a:cubicBezTo>
                <a:lnTo>
                  <a:pt x="15000" y="10547"/>
                </a:lnTo>
                <a:cubicBezTo>
                  <a:pt x="15000" y="11391"/>
                  <a:pt x="14414" y="12047"/>
                  <a:pt x="13711" y="12000"/>
                </a:cubicBezTo>
                <a:cubicBezTo>
                  <a:pt x="13047" y="12000"/>
                  <a:pt x="12500" y="11297"/>
                  <a:pt x="12500" y="10453"/>
                </a:cubicBezTo>
                <a:lnTo>
                  <a:pt x="12500" y="10359"/>
                </a:lnTo>
                <a:cubicBezTo>
                  <a:pt x="12500" y="8766"/>
                  <a:pt x="11797" y="7406"/>
                  <a:pt x="10742" y="6656"/>
                </a:cubicBezTo>
                <a:close/>
                <a:moveTo>
                  <a:pt x="10742" y="6609"/>
                </a:move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Text 50"/>
          <p:cNvSpPr txBox="1"/>
          <p:nvPr/>
        </p:nvSpPr>
        <p:spPr>
          <a:xfrm>
            <a:off x="6610350" y="6892052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>
                <a:solidFill>
                  <a:srgbClr val="22D3EE"/>
                </a:solidFill>
                <a:latin typeface="JetBrains Mono"/>
                <a:ea typeface="JetBrains Mono"/>
                <a:cs typeface="JetBrains Mono"/>
              </a:rPr>
              <a:t>2 official SEBI links attached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5918454" y="7761344"/>
            <a:ext cx="6451092" cy="7179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2828"/>
              </a:lnSpc>
            </a:pPr>
            <a:r>
              <a:rPr sz="1950">
                <a:solidFill>
                  <a:srgbClr val="F1F5F9"/>
                </a:solidFill>
                <a:latin typeface="Inter"/>
                <a:ea typeface="Inter"/>
                <a:cs typeface="Inter"/>
              </a:rPr>
              <a:t>Teaches, sells or mixes both — with a Low–High caution level.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12611100" y="2432566"/>
            <a:ext cx="2606129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 spc="18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03 · FLAGGED CLAIMS</a:t>
            </a:r>
          </a:p>
        </p:txBody>
      </p:sp>
      <p:sp>
        <p:nvSpPr>
          <p:cNvPr id="53" name="Shape 53"/>
          <p:cNvSpPr/>
          <p:nvPr/>
        </p:nvSpPr>
        <p:spPr>
          <a:xfrm>
            <a:off x="12611100" y="2876550"/>
            <a:ext cx="4762500" cy="4772025"/>
          </a:xfrm>
          <a:custGeom>
            <a:avLst/>
            <a:gdLst/>
            <a:ahLst/>
            <a:cxnLst/>
            <a:rect l="0" t="0" r="500000" b="501000"/>
            <a:pathLst>
              <a:path w="500000" h="501000">
                <a:moveTo>
                  <a:pt x="14000" y="0"/>
                </a:moveTo>
                <a:lnTo>
                  <a:pt x="486000" y="0"/>
                </a:lnTo>
                <a:cubicBezTo>
                  <a:pt x="493730" y="0"/>
                  <a:pt x="500000" y="6270"/>
                  <a:pt x="500000" y="14000"/>
                </a:cubicBezTo>
                <a:lnTo>
                  <a:pt x="500000" y="487000"/>
                </a:lnTo>
                <a:cubicBezTo>
                  <a:pt x="500000" y="494730"/>
                  <a:pt x="493730" y="501000"/>
                  <a:pt x="486000" y="501000"/>
                </a:cubicBezTo>
                <a:lnTo>
                  <a:pt x="14000" y="501000"/>
                </a:lnTo>
                <a:cubicBezTo>
                  <a:pt x="6270" y="501000"/>
                  <a:pt x="0" y="494730"/>
                  <a:pt x="0" y="487000"/>
                </a:cubicBezTo>
                <a:lnTo>
                  <a:pt x="0" y="14000"/>
                </a:lnTo>
                <a:cubicBezTo>
                  <a:pt x="0" y="6270"/>
                  <a:pt x="6270" y="0"/>
                  <a:pt x="14000" y="0"/>
                </a:cubicBezTo>
                <a:close/>
              </a:path>
            </a:pathLst>
          </a:custGeom>
          <a:solidFill>
            <a:srgbClr val="0A0F1D"/>
          </a:solidFill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Shape 54"/>
          <p:cNvSpPr/>
          <p:nvPr/>
        </p:nvSpPr>
        <p:spPr>
          <a:xfrm>
            <a:off x="12620625" y="2886075"/>
            <a:ext cx="4743450" cy="504825"/>
          </a:xfrm>
          <a:custGeom>
            <a:avLst/>
            <a:gdLst/>
            <a:ahLst/>
            <a:cxnLst/>
            <a:rect l="0" t="0" r="498000" b="53000"/>
            <a:pathLst>
              <a:path w="498000" h="53000">
                <a:moveTo>
                  <a:pt x="0" y="0"/>
                </a:moveTo>
                <a:lnTo>
                  <a:pt x="498000" y="0"/>
                </a:lnTo>
                <a:lnTo>
                  <a:pt x="498000" y="53000"/>
                </a:lnTo>
                <a:lnTo>
                  <a:pt x="0" y="53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Shape 55"/>
          <p:cNvSpPr/>
          <p:nvPr/>
        </p:nvSpPr>
        <p:spPr>
          <a:xfrm>
            <a:off x="12620625" y="2886075"/>
            <a:ext cx="4743450" cy="504825"/>
          </a:xfrm>
          <a:custGeom>
            <a:avLst/>
            <a:gdLst/>
            <a:ahLst/>
            <a:cxnLst/>
            <a:rect l="0" t="0" r="498000" b="53000"/>
            <a:pathLst>
              <a:path w="498000" h="53000">
                <a:moveTo>
                  <a:pt x="498000" y="53000"/>
                </a:moveTo>
                <a:lnTo>
                  <a:pt x="0" y="53000"/>
                </a:lnTo>
              </a:path>
            </a:pathLst>
          </a:custGeom>
          <a:noFill/>
          <a:ln w="9525" cap="flat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Text 56"/>
          <p:cNvSpPr txBox="1"/>
          <p:nvPr/>
        </p:nvSpPr>
        <p:spPr>
          <a:xfrm>
            <a:off x="12811125" y="2975491"/>
            <a:ext cx="2072729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 spc="12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WHY IT'S FLAGGED</a:t>
            </a:r>
          </a:p>
        </p:txBody>
      </p:sp>
      <p:sp>
        <p:nvSpPr>
          <p:cNvPr id="57" name="Shape 57"/>
          <p:cNvSpPr/>
          <p:nvPr/>
        </p:nvSpPr>
        <p:spPr>
          <a:xfrm>
            <a:off x="12849225" y="3619500"/>
            <a:ext cx="4286250" cy="1266825"/>
          </a:xfrm>
          <a:custGeom>
            <a:avLst/>
            <a:gdLst/>
            <a:ahLst/>
            <a:cxnLst/>
            <a:rect l="0" t="0" r="450000" b="133000"/>
            <a:pathLst>
              <a:path w="450000" h="133000">
                <a:moveTo>
                  <a:pt x="0" y="0"/>
                </a:moveTo>
                <a:lnTo>
                  <a:pt x="446000" y="0"/>
                </a:lnTo>
                <a:cubicBezTo>
                  <a:pt x="448209" y="0"/>
                  <a:pt x="450000" y="1791"/>
                  <a:pt x="450000" y="4000"/>
                </a:cubicBezTo>
                <a:lnTo>
                  <a:pt x="450000" y="129000"/>
                </a:lnTo>
                <a:cubicBezTo>
                  <a:pt x="450000" y="131209"/>
                  <a:pt x="448209" y="133000"/>
                  <a:pt x="446000" y="133000"/>
                </a:cubicBezTo>
                <a:lnTo>
                  <a:pt x="0" y="1330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16078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Shape 58"/>
          <p:cNvSpPr/>
          <p:nvPr/>
        </p:nvSpPr>
        <p:spPr>
          <a:xfrm>
            <a:off x="12849225" y="3619500"/>
            <a:ext cx="4286250" cy="1266825"/>
          </a:xfrm>
          <a:custGeom>
            <a:avLst/>
            <a:gdLst/>
            <a:ahLst/>
            <a:cxnLst/>
            <a:rect l="0" t="0" r="450000" b="133000"/>
            <a:pathLst>
              <a:path w="450000" h="133000">
                <a:moveTo>
                  <a:pt x="0" y="133000"/>
                </a:moveTo>
                <a:lnTo>
                  <a:pt x="0" y="0"/>
                </a:lnTo>
              </a:path>
            </a:pathLst>
          </a:custGeom>
          <a:noFill/>
          <a:ln w="38100" cap="flat">
            <a:solidFill>
              <a:srgbClr val="F59E0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Text 59"/>
          <p:cNvSpPr txBox="1"/>
          <p:nvPr/>
        </p:nvSpPr>
        <p:spPr>
          <a:xfrm>
            <a:off x="13096875" y="3723494"/>
            <a:ext cx="3158430" cy="319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520"/>
              </a:lnSpc>
            </a:pPr>
            <a:r>
              <a:rPr sz="180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“Guaranteed 10x in 30 days”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13096875" y="4103219"/>
            <a:ext cx="2715667" cy="293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>
                <a:solidFill>
                  <a:srgbClr val="94A3B8"/>
                </a:solidFill>
                <a:latin typeface="Inter"/>
                <a:ea typeface="Inter"/>
                <a:cs typeface="Inter"/>
              </a:rPr>
              <a:t>Promises an assured return</a:t>
            </a:r>
          </a:p>
        </p:txBody>
      </p:sp>
      <p:sp>
        <p:nvSpPr>
          <p:cNvPr id="61" name="Shape 61"/>
          <p:cNvSpPr/>
          <p:nvPr/>
        </p:nvSpPr>
        <p:spPr>
          <a:xfrm>
            <a:off x="13108781" y="4510832"/>
            <a:ext cx="214313" cy="200025"/>
          </a:xfrm>
          <a:custGeom>
            <a:avLst/>
            <a:gdLst/>
            <a:ahLst/>
            <a:cxnLst/>
            <a:rect l="0" t="0" r="22500" b="21000"/>
            <a:pathLst>
              <a:path w="22500" h="21000">
                <a:moveTo>
                  <a:pt x="16406" y="3000"/>
                </a:moveTo>
                <a:cubicBezTo>
                  <a:pt x="15742" y="3000"/>
                  <a:pt x="15117" y="3234"/>
                  <a:pt x="14570" y="3609"/>
                </a:cubicBezTo>
                <a:cubicBezTo>
                  <a:pt x="13945" y="2859"/>
                  <a:pt x="13242" y="2203"/>
                  <a:pt x="12422" y="1734"/>
                </a:cubicBezTo>
                <a:cubicBezTo>
                  <a:pt x="13516" y="609"/>
                  <a:pt x="14922" y="0"/>
                  <a:pt x="16406" y="0"/>
                </a:cubicBezTo>
                <a:cubicBezTo>
                  <a:pt x="19766" y="0"/>
                  <a:pt x="22500" y="3281"/>
                  <a:pt x="22500" y="7359"/>
                </a:cubicBezTo>
                <a:cubicBezTo>
                  <a:pt x="22500" y="9281"/>
                  <a:pt x="21875" y="11156"/>
                  <a:pt x="20703" y="12516"/>
                </a:cubicBezTo>
                <a:lnTo>
                  <a:pt x="17930" y="15844"/>
                </a:lnTo>
                <a:cubicBezTo>
                  <a:pt x="16797" y="17250"/>
                  <a:pt x="15234" y="18000"/>
                  <a:pt x="13633" y="18000"/>
                </a:cubicBezTo>
                <a:cubicBezTo>
                  <a:pt x="10234" y="18000"/>
                  <a:pt x="7500" y="14719"/>
                  <a:pt x="7500" y="10688"/>
                </a:cubicBezTo>
                <a:lnTo>
                  <a:pt x="7500" y="10453"/>
                </a:lnTo>
                <a:cubicBezTo>
                  <a:pt x="7539" y="9609"/>
                  <a:pt x="8086" y="8953"/>
                  <a:pt x="8789" y="9000"/>
                </a:cubicBezTo>
                <a:cubicBezTo>
                  <a:pt x="9492" y="9000"/>
                  <a:pt x="10039" y="9703"/>
                  <a:pt x="10000" y="10547"/>
                </a:cubicBezTo>
                <a:lnTo>
                  <a:pt x="10000" y="10641"/>
                </a:lnTo>
                <a:cubicBezTo>
                  <a:pt x="10000" y="13078"/>
                  <a:pt x="11641" y="15000"/>
                  <a:pt x="13633" y="15000"/>
                </a:cubicBezTo>
                <a:cubicBezTo>
                  <a:pt x="14570" y="15000"/>
                  <a:pt x="15508" y="14531"/>
                  <a:pt x="16172" y="13734"/>
                </a:cubicBezTo>
                <a:lnTo>
                  <a:pt x="18945" y="10406"/>
                </a:lnTo>
                <a:cubicBezTo>
                  <a:pt x="19609" y="9563"/>
                  <a:pt x="20000" y="8484"/>
                  <a:pt x="20000" y="7313"/>
                </a:cubicBezTo>
                <a:cubicBezTo>
                  <a:pt x="20000" y="4922"/>
                  <a:pt x="18398" y="3000"/>
                  <a:pt x="16406" y="3000"/>
                </a:cubicBezTo>
                <a:close/>
                <a:moveTo>
                  <a:pt x="10742" y="6609"/>
                </a:moveTo>
                <a:cubicBezTo>
                  <a:pt x="10664" y="6609"/>
                  <a:pt x="10586" y="6516"/>
                  <a:pt x="10547" y="6469"/>
                </a:cubicBezTo>
                <a:cubicBezTo>
                  <a:pt x="10039" y="6188"/>
                  <a:pt x="9492" y="6000"/>
                  <a:pt x="8906" y="6000"/>
                </a:cubicBezTo>
                <a:cubicBezTo>
                  <a:pt x="7930" y="6000"/>
                  <a:pt x="7031" y="6469"/>
                  <a:pt x="6328" y="7266"/>
                </a:cubicBezTo>
                <a:lnTo>
                  <a:pt x="3555" y="10594"/>
                </a:lnTo>
                <a:cubicBezTo>
                  <a:pt x="2891" y="11438"/>
                  <a:pt x="2500" y="12516"/>
                  <a:pt x="2500" y="13688"/>
                </a:cubicBezTo>
                <a:cubicBezTo>
                  <a:pt x="2500" y="16078"/>
                  <a:pt x="4102" y="18000"/>
                  <a:pt x="6133" y="18000"/>
                </a:cubicBezTo>
                <a:cubicBezTo>
                  <a:pt x="6758" y="18000"/>
                  <a:pt x="7383" y="17813"/>
                  <a:pt x="7930" y="17438"/>
                </a:cubicBezTo>
                <a:cubicBezTo>
                  <a:pt x="8555" y="18188"/>
                  <a:pt x="9258" y="18797"/>
                  <a:pt x="10078" y="19266"/>
                </a:cubicBezTo>
                <a:cubicBezTo>
                  <a:pt x="8984" y="20391"/>
                  <a:pt x="7578" y="21000"/>
                  <a:pt x="6133" y="21000"/>
                </a:cubicBezTo>
                <a:cubicBezTo>
                  <a:pt x="2734" y="21000"/>
                  <a:pt x="0" y="17719"/>
                  <a:pt x="0" y="13688"/>
                </a:cubicBezTo>
                <a:cubicBezTo>
                  <a:pt x="0" y="11719"/>
                  <a:pt x="664" y="9844"/>
                  <a:pt x="1797" y="8484"/>
                </a:cubicBezTo>
                <a:lnTo>
                  <a:pt x="4570" y="5156"/>
                </a:lnTo>
                <a:cubicBezTo>
                  <a:pt x="5703" y="3797"/>
                  <a:pt x="7266" y="3000"/>
                  <a:pt x="8906" y="3000"/>
                </a:cubicBezTo>
                <a:cubicBezTo>
                  <a:pt x="12266" y="3000"/>
                  <a:pt x="15000" y="6328"/>
                  <a:pt x="15000" y="10359"/>
                </a:cubicBezTo>
                <a:lnTo>
                  <a:pt x="15000" y="10547"/>
                </a:lnTo>
                <a:cubicBezTo>
                  <a:pt x="15000" y="11391"/>
                  <a:pt x="14414" y="12047"/>
                  <a:pt x="13711" y="12000"/>
                </a:cubicBezTo>
                <a:cubicBezTo>
                  <a:pt x="13047" y="12000"/>
                  <a:pt x="12500" y="11297"/>
                  <a:pt x="12500" y="10453"/>
                </a:cubicBezTo>
                <a:lnTo>
                  <a:pt x="12500" y="10359"/>
                </a:lnTo>
                <a:cubicBezTo>
                  <a:pt x="12500" y="8766"/>
                  <a:pt x="11797" y="7406"/>
                  <a:pt x="10742" y="6656"/>
                </a:cubicBezTo>
                <a:close/>
                <a:moveTo>
                  <a:pt x="10742" y="6609"/>
                </a:move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Text 62"/>
          <p:cNvSpPr txBox="1"/>
          <p:nvPr/>
        </p:nvSpPr>
        <p:spPr>
          <a:xfrm>
            <a:off x="13411200" y="4455587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>
                <a:solidFill>
                  <a:srgbClr val="22D3EE"/>
                </a:solidFill>
                <a:latin typeface="JetBrains Mono"/>
                <a:ea typeface="JetBrains Mono"/>
                <a:cs typeface="JetBrains Mono"/>
              </a:rPr>
              <a:t>SEBI investor advisory</a:t>
            </a:r>
          </a:p>
        </p:txBody>
      </p:sp>
      <p:sp>
        <p:nvSpPr>
          <p:cNvPr id="63" name="Shape 63"/>
          <p:cNvSpPr/>
          <p:nvPr/>
        </p:nvSpPr>
        <p:spPr>
          <a:xfrm>
            <a:off x="12849225" y="5038725"/>
            <a:ext cx="4286250" cy="1257300"/>
          </a:xfrm>
          <a:custGeom>
            <a:avLst/>
            <a:gdLst/>
            <a:ahLst/>
            <a:cxnLst/>
            <a:rect l="0" t="0" r="450000" b="132000"/>
            <a:pathLst>
              <a:path w="450000" h="132000">
                <a:moveTo>
                  <a:pt x="0" y="0"/>
                </a:moveTo>
                <a:lnTo>
                  <a:pt x="446000" y="0"/>
                </a:lnTo>
                <a:cubicBezTo>
                  <a:pt x="448209" y="0"/>
                  <a:pt x="450000" y="1791"/>
                  <a:pt x="450000" y="4000"/>
                </a:cubicBezTo>
                <a:lnTo>
                  <a:pt x="450000" y="128000"/>
                </a:lnTo>
                <a:cubicBezTo>
                  <a:pt x="450000" y="130209"/>
                  <a:pt x="448209" y="132000"/>
                  <a:pt x="446000" y="132000"/>
                </a:cubicBezTo>
                <a:lnTo>
                  <a:pt x="0" y="1320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16078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hape 64"/>
          <p:cNvSpPr/>
          <p:nvPr/>
        </p:nvSpPr>
        <p:spPr>
          <a:xfrm>
            <a:off x="12849225" y="5038725"/>
            <a:ext cx="4286250" cy="1257300"/>
          </a:xfrm>
          <a:custGeom>
            <a:avLst/>
            <a:gdLst/>
            <a:ahLst/>
            <a:cxnLst/>
            <a:rect l="0" t="0" r="450000" b="132000"/>
            <a:pathLst>
              <a:path w="450000" h="132000">
                <a:moveTo>
                  <a:pt x="0" y="132000"/>
                </a:moveTo>
                <a:lnTo>
                  <a:pt x="0" y="0"/>
                </a:lnTo>
              </a:path>
            </a:pathLst>
          </a:custGeom>
          <a:noFill/>
          <a:ln w="38100" cap="flat">
            <a:solidFill>
              <a:srgbClr val="F59E0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Text 65"/>
          <p:cNvSpPr txBox="1"/>
          <p:nvPr/>
        </p:nvSpPr>
        <p:spPr>
          <a:xfrm>
            <a:off x="13096875" y="5136914"/>
            <a:ext cx="3764607" cy="319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520"/>
              </a:lnSpc>
            </a:pPr>
            <a:r>
              <a:rPr sz="180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“Abhi join karo, seats limited hain”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13096875" y="5516640"/>
            <a:ext cx="2446883" cy="293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>
                <a:solidFill>
                  <a:srgbClr val="94A3B8"/>
                </a:solidFill>
                <a:latin typeface="Inter"/>
                <a:ea typeface="Inter"/>
                <a:cs typeface="Inter"/>
              </a:rPr>
              <a:t>Urgency pressure to buy</a:t>
            </a:r>
          </a:p>
        </p:txBody>
      </p:sp>
      <p:sp>
        <p:nvSpPr>
          <p:cNvPr id="67" name="Shape 67"/>
          <p:cNvSpPr/>
          <p:nvPr/>
        </p:nvSpPr>
        <p:spPr>
          <a:xfrm>
            <a:off x="13108781" y="5924252"/>
            <a:ext cx="214313" cy="200025"/>
          </a:xfrm>
          <a:custGeom>
            <a:avLst/>
            <a:gdLst/>
            <a:ahLst/>
            <a:cxnLst/>
            <a:rect l="0" t="0" r="22500" b="21000"/>
            <a:pathLst>
              <a:path w="22500" h="21000">
                <a:moveTo>
                  <a:pt x="16406" y="3000"/>
                </a:moveTo>
                <a:cubicBezTo>
                  <a:pt x="15742" y="3000"/>
                  <a:pt x="15117" y="3234"/>
                  <a:pt x="14570" y="3609"/>
                </a:cubicBezTo>
                <a:cubicBezTo>
                  <a:pt x="13945" y="2859"/>
                  <a:pt x="13242" y="2203"/>
                  <a:pt x="12422" y="1734"/>
                </a:cubicBezTo>
                <a:cubicBezTo>
                  <a:pt x="13516" y="609"/>
                  <a:pt x="14922" y="0"/>
                  <a:pt x="16406" y="0"/>
                </a:cubicBezTo>
                <a:cubicBezTo>
                  <a:pt x="19766" y="0"/>
                  <a:pt x="22500" y="3281"/>
                  <a:pt x="22500" y="7359"/>
                </a:cubicBezTo>
                <a:cubicBezTo>
                  <a:pt x="22500" y="9281"/>
                  <a:pt x="21875" y="11156"/>
                  <a:pt x="20703" y="12516"/>
                </a:cubicBezTo>
                <a:lnTo>
                  <a:pt x="17930" y="15844"/>
                </a:lnTo>
                <a:cubicBezTo>
                  <a:pt x="16797" y="17250"/>
                  <a:pt x="15234" y="18000"/>
                  <a:pt x="13633" y="18000"/>
                </a:cubicBezTo>
                <a:cubicBezTo>
                  <a:pt x="10234" y="18000"/>
                  <a:pt x="7500" y="14719"/>
                  <a:pt x="7500" y="10688"/>
                </a:cubicBezTo>
                <a:lnTo>
                  <a:pt x="7500" y="10453"/>
                </a:lnTo>
                <a:cubicBezTo>
                  <a:pt x="7539" y="9609"/>
                  <a:pt x="8086" y="8953"/>
                  <a:pt x="8789" y="9000"/>
                </a:cubicBezTo>
                <a:cubicBezTo>
                  <a:pt x="9492" y="9000"/>
                  <a:pt x="10039" y="9703"/>
                  <a:pt x="10000" y="10547"/>
                </a:cubicBezTo>
                <a:lnTo>
                  <a:pt x="10000" y="10641"/>
                </a:lnTo>
                <a:cubicBezTo>
                  <a:pt x="10000" y="13078"/>
                  <a:pt x="11641" y="15000"/>
                  <a:pt x="13633" y="15000"/>
                </a:cubicBezTo>
                <a:cubicBezTo>
                  <a:pt x="14570" y="15000"/>
                  <a:pt x="15508" y="14531"/>
                  <a:pt x="16172" y="13734"/>
                </a:cubicBezTo>
                <a:lnTo>
                  <a:pt x="18945" y="10406"/>
                </a:lnTo>
                <a:cubicBezTo>
                  <a:pt x="19609" y="9563"/>
                  <a:pt x="20000" y="8484"/>
                  <a:pt x="20000" y="7313"/>
                </a:cubicBezTo>
                <a:cubicBezTo>
                  <a:pt x="20000" y="4922"/>
                  <a:pt x="18398" y="3000"/>
                  <a:pt x="16406" y="3000"/>
                </a:cubicBezTo>
                <a:close/>
                <a:moveTo>
                  <a:pt x="10742" y="6609"/>
                </a:moveTo>
                <a:cubicBezTo>
                  <a:pt x="10664" y="6609"/>
                  <a:pt x="10586" y="6516"/>
                  <a:pt x="10547" y="6469"/>
                </a:cubicBezTo>
                <a:cubicBezTo>
                  <a:pt x="10039" y="6188"/>
                  <a:pt x="9492" y="6000"/>
                  <a:pt x="8906" y="6000"/>
                </a:cubicBezTo>
                <a:cubicBezTo>
                  <a:pt x="7930" y="6000"/>
                  <a:pt x="7031" y="6469"/>
                  <a:pt x="6328" y="7266"/>
                </a:cubicBezTo>
                <a:lnTo>
                  <a:pt x="3555" y="10594"/>
                </a:lnTo>
                <a:cubicBezTo>
                  <a:pt x="2891" y="11438"/>
                  <a:pt x="2500" y="12516"/>
                  <a:pt x="2500" y="13688"/>
                </a:cubicBezTo>
                <a:cubicBezTo>
                  <a:pt x="2500" y="16078"/>
                  <a:pt x="4102" y="18000"/>
                  <a:pt x="6133" y="18000"/>
                </a:cubicBezTo>
                <a:cubicBezTo>
                  <a:pt x="6758" y="18000"/>
                  <a:pt x="7383" y="17813"/>
                  <a:pt x="7930" y="17438"/>
                </a:cubicBezTo>
                <a:cubicBezTo>
                  <a:pt x="8555" y="18188"/>
                  <a:pt x="9258" y="18797"/>
                  <a:pt x="10078" y="19266"/>
                </a:cubicBezTo>
                <a:cubicBezTo>
                  <a:pt x="8984" y="20391"/>
                  <a:pt x="7578" y="21000"/>
                  <a:pt x="6133" y="21000"/>
                </a:cubicBezTo>
                <a:cubicBezTo>
                  <a:pt x="2734" y="21000"/>
                  <a:pt x="0" y="17719"/>
                  <a:pt x="0" y="13688"/>
                </a:cubicBezTo>
                <a:cubicBezTo>
                  <a:pt x="0" y="11719"/>
                  <a:pt x="664" y="9844"/>
                  <a:pt x="1797" y="8484"/>
                </a:cubicBezTo>
                <a:lnTo>
                  <a:pt x="4570" y="5156"/>
                </a:lnTo>
                <a:cubicBezTo>
                  <a:pt x="5703" y="3797"/>
                  <a:pt x="7266" y="3000"/>
                  <a:pt x="8906" y="3000"/>
                </a:cubicBezTo>
                <a:cubicBezTo>
                  <a:pt x="12266" y="3000"/>
                  <a:pt x="15000" y="6328"/>
                  <a:pt x="15000" y="10359"/>
                </a:cubicBezTo>
                <a:lnTo>
                  <a:pt x="15000" y="10547"/>
                </a:lnTo>
                <a:cubicBezTo>
                  <a:pt x="15000" y="11391"/>
                  <a:pt x="14414" y="12047"/>
                  <a:pt x="13711" y="12000"/>
                </a:cubicBezTo>
                <a:cubicBezTo>
                  <a:pt x="13047" y="12000"/>
                  <a:pt x="12500" y="11297"/>
                  <a:pt x="12500" y="10453"/>
                </a:cubicBezTo>
                <a:lnTo>
                  <a:pt x="12500" y="10359"/>
                </a:lnTo>
                <a:cubicBezTo>
                  <a:pt x="12500" y="8766"/>
                  <a:pt x="11797" y="7406"/>
                  <a:pt x="10742" y="6656"/>
                </a:cubicBezTo>
                <a:close/>
                <a:moveTo>
                  <a:pt x="10742" y="6609"/>
                </a:move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Text 68"/>
          <p:cNvSpPr txBox="1"/>
          <p:nvPr/>
        </p:nvSpPr>
        <p:spPr>
          <a:xfrm>
            <a:off x="13411200" y="5869007"/>
            <a:ext cx="24003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>
                <a:solidFill>
                  <a:srgbClr val="22D3EE"/>
                </a:solidFill>
                <a:latin typeface="JetBrains Mono"/>
                <a:ea typeface="JetBrains Mono"/>
                <a:cs typeface="JetBrains Mono"/>
              </a:rPr>
              <a:t>SEBI Saarthi guidance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12563475" y="7761344"/>
            <a:ext cx="4857750" cy="7179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2828"/>
              </a:lnSpc>
            </a:pPr>
            <a:r>
              <a:rPr sz="1950">
                <a:solidFill>
                  <a:srgbClr val="F1F5F9"/>
                </a:solidFill>
                <a:latin typeface="Inter"/>
                <a:ea typeface="Inter"/>
                <a:cs typeface="Inter"/>
              </a:rPr>
              <a:t>Exact quotes, each with a reason and an official SEBI link.</a:t>
            </a:r>
          </a:p>
        </p:txBody>
      </p:sp>
      <p:sp>
        <p:nvSpPr>
          <p:cNvPr id="70" name="Shape 70"/>
          <p:cNvSpPr/>
          <p:nvPr/>
        </p:nvSpPr>
        <p:spPr>
          <a:xfrm>
            <a:off x="914400" y="8896350"/>
            <a:ext cx="16459200" cy="628650"/>
          </a:xfrm>
          <a:custGeom>
            <a:avLst/>
            <a:gdLst/>
            <a:ahLst/>
            <a:cxnLst/>
            <a:rect l="0" t="0" r="1728000" b="66000"/>
            <a:pathLst>
              <a:path w="1728000" h="66000">
                <a:moveTo>
                  <a:pt x="0" y="0"/>
                </a:moveTo>
                <a:lnTo>
                  <a:pt x="1728000" y="0"/>
                </a:lnTo>
                <a:lnTo>
                  <a:pt x="1728000" y="66000"/>
                </a:lnTo>
                <a:lnTo>
                  <a:pt x="0" y="66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Shape 71"/>
          <p:cNvSpPr/>
          <p:nvPr/>
        </p:nvSpPr>
        <p:spPr>
          <a:xfrm>
            <a:off x="914400" y="8896350"/>
            <a:ext cx="16459200" cy="628650"/>
          </a:xfrm>
          <a:custGeom>
            <a:avLst/>
            <a:gdLst/>
            <a:ahLst/>
            <a:cxnLst/>
            <a:rect l="0" t="0" r="1728000" b="66000"/>
            <a:pathLst>
              <a:path w="1728000" h="66000">
                <a:moveTo>
                  <a:pt x="0" y="0"/>
                </a:moveTo>
                <a:lnTo>
                  <a:pt x="1728000" y="0"/>
                </a:lnTo>
              </a:path>
            </a:pathLst>
          </a:custGeom>
          <a:noFill/>
          <a:ln w="9525" cap="flat">
            <a:solidFill>
              <a:srgbClr val="2B3A5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Shape 72"/>
          <p:cNvSpPr/>
          <p:nvPr/>
        </p:nvSpPr>
        <p:spPr>
          <a:xfrm>
            <a:off x="947738" y="9224070"/>
            <a:ext cx="200025" cy="228600"/>
          </a:xfrm>
          <a:custGeom>
            <a:avLst/>
            <a:gdLst/>
            <a:ahLst/>
            <a:cxnLst/>
            <a:rect l="0" t="0" r="21000" b="24000"/>
            <a:pathLst>
              <a:path w="21000" h="24000">
                <a:moveTo>
                  <a:pt x="20396" y="340"/>
                </a:moveTo>
                <a:cubicBezTo>
                  <a:pt x="21052" y="974"/>
                  <a:pt x="21193" y="2128"/>
                  <a:pt x="20724" y="2936"/>
                </a:cubicBezTo>
                <a:lnTo>
                  <a:pt x="8721" y="23241"/>
                </a:lnTo>
                <a:cubicBezTo>
                  <a:pt x="8440" y="23645"/>
                  <a:pt x="8065" y="23933"/>
                  <a:pt x="7643" y="23991"/>
                </a:cubicBezTo>
                <a:cubicBezTo>
                  <a:pt x="7174" y="24049"/>
                  <a:pt x="6752" y="23818"/>
                  <a:pt x="6423" y="23472"/>
                </a:cubicBezTo>
                <a:lnTo>
                  <a:pt x="422" y="16088"/>
                </a:lnTo>
                <a:cubicBezTo>
                  <a:pt x="-141" y="15338"/>
                  <a:pt x="-141" y="14184"/>
                  <a:pt x="422" y="13435"/>
                </a:cubicBezTo>
                <a:cubicBezTo>
                  <a:pt x="1032" y="12742"/>
                  <a:pt x="1969" y="12742"/>
                  <a:pt x="2579" y="13435"/>
                </a:cubicBezTo>
                <a:lnTo>
                  <a:pt x="7314" y="19319"/>
                </a:lnTo>
                <a:lnTo>
                  <a:pt x="18286" y="743"/>
                </a:lnTo>
                <a:cubicBezTo>
                  <a:pt x="18802" y="-64"/>
                  <a:pt x="19739" y="-237"/>
                  <a:pt x="20396" y="340"/>
                </a:cubicBezTo>
                <a:close/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Text 73"/>
          <p:cNvSpPr txBox="1"/>
          <p:nvPr/>
        </p:nvSpPr>
        <p:spPr>
          <a:xfrm>
            <a:off x="1352550" y="9095344"/>
            <a:ext cx="1452860" cy="386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045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No account</a:t>
            </a:r>
          </a:p>
        </p:txBody>
      </p:sp>
      <p:sp>
        <p:nvSpPr>
          <p:cNvPr id="74" name="Shape 74"/>
          <p:cNvSpPr/>
          <p:nvPr/>
        </p:nvSpPr>
        <p:spPr>
          <a:xfrm>
            <a:off x="3448348" y="9224070"/>
            <a:ext cx="200025" cy="228600"/>
          </a:xfrm>
          <a:custGeom>
            <a:avLst/>
            <a:gdLst/>
            <a:ahLst/>
            <a:cxnLst/>
            <a:rect l="0" t="0" r="21000" b="24000"/>
            <a:pathLst>
              <a:path w="21000" h="24000">
                <a:moveTo>
                  <a:pt x="20396" y="340"/>
                </a:moveTo>
                <a:cubicBezTo>
                  <a:pt x="21052" y="974"/>
                  <a:pt x="21193" y="2128"/>
                  <a:pt x="20724" y="2936"/>
                </a:cubicBezTo>
                <a:lnTo>
                  <a:pt x="8721" y="23241"/>
                </a:lnTo>
                <a:cubicBezTo>
                  <a:pt x="8440" y="23645"/>
                  <a:pt x="8065" y="23933"/>
                  <a:pt x="7643" y="23991"/>
                </a:cubicBezTo>
                <a:cubicBezTo>
                  <a:pt x="7174" y="24049"/>
                  <a:pt x="6752" y="23818"/>
                  <a:pt x="6423" y="23472"/>
                </a:cubicBezTo>
                <a:lnTo>
                  <a:pt x="422" y="16088"/>
                </a:lnTo>
                <a:cubicBezTo>
                  <a:pt x="-141" y="15338"/>
                  <a:pt x="-141" y="14184"/>
                  <a:pt x="422" y="13435"/>
                </a:cubicBezTo>
                <a:cubicBezTo>
                  <a:pt x="1032" y="12742"/>
                  <a:pt x="1969" y="12742"/>
                  <a:pt x="2579" y="13435"/>
                </a:cubicBezTo>
                <a:lnTo>
                  <a:pt x="7314" y="19319"/>
                </a:lnTo>
                <a:lnTo>
                  <a:pt x="18286" y="743"/>
                </a:lnTo>
                <a:cubicBezTo>
                  <a:pt x="18802" y="-64"/>
                  <a:pt x="19739" y="-237"/>
                  <a:pt x="20396" y="340"/>
                </a:cubicBezTo>
                <a:close/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Text 75"/>
          <p:cNvSpPr txBox="1"/>
          <p:nvPr/>
        </p:nvSpPr>
        <p:spPr>
          <a:xfrm>
            <a:off x="3853160" y="9095344"/>
            <a:ext cx="1866751" cy="386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045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Nothing stored</a:t>
            </a:r>
          </a:p>
        </p:txBody>
      </p:sp>
      <p:sp>
        <p:nvSpPr>
          <p:cNvPr id="76" name="Shape 76"/>
          <p:cNvSpPr/>
          <p:nvPr/>
        </p:nvSpPr>
        <p:spPr>
          <a:xfrm>
            <a:off x="6362849" y="9224070"/>
            <a:ext cx="200025" cy="228600"/>
          </a:xfrm>
          <a:custGeom>
            <a:avLst/>
            <a:gdLst/>
            <a:ahLst/>
            <a:cxnLst/>
            <a:rect l="0" t="0" r="21000" b="24000"/>
            <a:pathLst>
              <a:path w="21000" h="24000">
                <a:moveTo>
                  <a:pt x="20396" y="340"/>
                </a:moveTo>
                <a:cubicBezTo>
                  <a:pt x="21052" y="974"/>
                  <a:pt x="21193" y="2128"/>
                  <a:pt x="20724" y="2936"/>
                </a:cubicBezTo>
                <a:lnTo>
                  <a:pt x="8721" y="23241"/>
                </a:lnTo>
                <a:cubicBezTo>
                  <a:pt x="8440" y="23645"/>
                  <a:pt x="8065" y="23933"/>
                  <a:pt x="7643" y="23991"/>
                </a:cubicBezTo>
                <a:cubicBezTo>
                  <a:pt x="7174" y="24049"/>
                  <a:pt x="6752" y="23818"/>
                  <a:pt x="6423" y="23472"/>
                </a:cubicBezTo>
                <a:lnTo>
                  <a:pt x="422" y="16088"/>
                </a:lnTo>
                <a:cubicBezTo>
                  <a:pt x="-141" y="15338"/>
                  <a:pt x="-141" y="14184"/>
                  <a:pt x="422" y="13435"/>
                </a:cubicBezTo>
                <a:cubicBezTo>
                  <a:pt x="1032" y="12742"/>
                  <a:pt x="1969" y="12742"/>
                  <a:pt x="2579" y="13435"/>
                </a:cubicBezTo>
                <a:lnTo>
                  <a:pt x="7314" y="19319"/>
                </a:lnTo>
                <a:lnTo>
                  <a:pt x="18286" y="743"/>
                </a:lnTo>
                <a:cubicBezTo>
                  <a:pt x="18802" y="-64"/>
                  <a:pt x="19739" y="-237"/>
                  <a:pt x="20396" y="340"/>
                </a:cubicBezTo>
                <a:close/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Text 77"/>
          <p:cNvSpPr txBox="1"/>
          <p:nvPr/>
        </p:nvSpPr>
        <p:spPr>
          <a:xfrm>
            <a:off x="6767661" y="9095344"/>
            <a:ext cx="4045744" cy="386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045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Works in Hindi, Hinglish, English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914400" y="808863"/>
            <a:ext cx="2263229" cy="293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spc="198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03 — LIVE PROOF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914400" y="1275810"/>
            <a:ext cx="9842450" cy="8323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6555"/>
              </a:lnSpc>
            </a:pPr>
            <a:r>
              <a:rPr sz="5700" b="1" spc="-114">
                <a:solidFill>
                  <a:srgbClr val="F1F5F9"/>
                </a:solidFill>
                <a:latin typeface="Inter"/>
                <a:ea typeface="Inter"/>
                <a:cs typeface="Inter"/>
              </a:rPr>
              <a:t>Trap caught. Lesson cleared.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14400" y="2222023"/>
            <a:ext cx="6172498" cy="4799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780"/>
              </a:lnSpc>
            </a:pPr>
            <a:r>
              <a:rPr sz="2700" spc="-13">
                <a:solidFill>
                  <a:srgbClr val="94A3B8"/>
                </a:solidFill>
                <a:latin typeface="Inter"/>
                <a:ea typeface="Inter"/>
                <a:cs typeface="Inter"/>
              </a:rPr>
              <a:t>Two real inputs, two opposite verdicts.</a:t>
            </a:r>
          </a:p>
        </p:txBody>
      </p:sp>
      <p:sp>
        <p:nvSpPr>
          <p:cNvPr id="5" name="Shape 5"/>
          <p:cNvSpPr/>
          <p:nvPr/>
        </p:nvSpPr>
        <p:spPr>
          <a:xfrm>
            <a:off x="12268200" y="847725"/>
            <a:ext cx="5105400" cy="1905000"/>
          </a:xfrm>
          <a:custGeom>
            <a:avLst/>
            <a:gdLst/>
            <a:ahLst/>
            <a:cxnLst/>
            <a:rect l="0" t="0" r="536000" b="200000"/>
            <a:pathLst>
              <a:path w="536000" h="200000">
                <a:moveTo>
                  <a:pt x="0" y="0"/>
                </a:moveTo>
                <a:lnTo>
                  <a:pt x="536000" y="0"/>
                </a:lnTo>
                <a:lnTo>
                  <a:pt x="536000" y="200000"/>
                </a:lnTo>
                <a:lnTo>
                  <a:pt x="0" y="20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12268200" y="847725"/>
            <a:ext cx="5105400" cy="1905000"/>
          </a:xfrm>
          <a:custGeom>
            <a:avLst/>
            <a:gdLst/>
            <a:ahLst/>
            <a:cxnLst/>
            <a:rect l="0" t="0" r="536000" b="200000"/>
            <a:pathLst>
              <a:path w="536000" h="200000">
                <a:moveTo>
                  <a:pt x="0" y="0"/>
                </a:moveTo>
                <a:lnTo>
                  <a:pt x="536000" y="0"/>
                </a:lnTo>
              </a:path>
            </a:pathLst>
          </a:custGeom>
          <a:noFill/>
          <a:ln w="28575" cap="flat">
            <a:solidFill>
              <a:srgbClr val="10B9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12268200" y="1179838"/>
            <a:ext cx="2779812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9600"/>
              </a:lnSpc>
            </a:pPr>
            <a:r>
              <a:rPr sz="9600" b="1" spc="-288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Zero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2268200" y="2414759"/>
            <a:ext cx="4941094" cy="3085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30"/>
              </a:lnSpc>
            </a:pPr>
            <a:r>
              <a:rPr sz="1800">
                <a:solidFill>
                  <a:srgbClr val="94A3B8"/>
                </a:solidFill>
                <a:latin typeface="Inter"/>
                <a:ea typeface="Inter"/>
                <a:cs typeface="Inter"/>
              </a:rPr>
              <a:t>education false positives on our 254-item set</a:t>
            </a:r>
          </a:p>
        </p:txBody>
      </p:sp>
      <p:sp>
        <p:nvSpPr>
          <p:cNvPr id="9" name="Shape 9"/>
          <p:cNvSpPr/>
          <p:nvPr/>
        </p:nvSpPr>
        <p:spPr>
          <a:xfrm>
            <a:off x="914400" y="3286125"/>
            <a:ext cx="8077200" cy="6238875"/>
          </a:xfrm>
          <a:custGeom>
            <a:avLst/>
            <a:gdLst/>
            <a:ahLst/>
            <a:cxnLst/>
            <a:rect l="0" t="0" r="848000" b="655000"/>
            <a:pathLst>
              <a:path w="848000" h="655000">
                <a:moveTo>
                  <a:pt x="14000" y="0"/>
                </a:moveTo>
                <a:lnTo>
                  <a:pt x="834000" y="0"/>
                </a:lnTo>
                <a:cubicBezTo>
                  <a:pt x="841730" y="0"/>
                  <a:pt x="848000" y="6270"/>
                  <a:pt x="848000" y="14000"/>
                </a:cubicBezTo>
                <a:lnTo>
                  <a:pt x="848000" y="641000"/>
                </a:lnTo>
                <a:cubicBezTo>
                  <a:pt x="848000" y="648730"/>
                  <a:pt x="841730" y="655000"/>
                  <a:pt x="834000" y="655000"/>
                </a:cubicBezTo>
                <a:lnTo>
                  <a:pt x="14000" y="655000"/>
                </a:lnTo>
                <a:cubicBezTo>
                  <a:pt x="6270" y="655000"/>
                  <a:pt x="0" y="648730"/>
                  <a:pt x="0" y="641000"/>
                </a:cubicBezTo>
                <a:lnTo>
                  <a:pt x="0" y="14000"/>
                </a:lnTo>
                <a:cubicBezTo>
                  <a:pt x="0" y="6270"/>
                  <a:pt x="6270" y="0"/>
                  <a:pt x="14000" y="0"/>
                </a:cubicBezTo>
                <a:close/>
              </a:path>
            </a:pathLst>
          </a:custGeom>
          <a:solidFill>
            <a:srgbClr val="0A0F1D"/>
          </a:solidFill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hape 10"/>
          <p:cNvSpPr/>
          <p:nvPr/>
        </p:nvSpPr>
        <p:spPr>
          <a:xfrm>
            <a:off x="923925" y="3295650"/>
            <a:ext cx="8058150" cy="57150"/>
          </a:xfrm>
          <a:custGeom>
            <a:avLst/>
            <a:gdLst/>
            <a:ahLst/>
            <a:cxnLst/>
            <a:rect l="0" t="0" r="846000" b="6000"/>
            <a:pathLst>
              <a:path w="846000" h="6000">
                <a:moveTo>
                  <a:pt x="6000" y="0"/>
                </a:moveTo>
                <a:lnTo>
                  <a:pt x="840000" y="0"/>
                </a:lnTo>
                <a:cubicBezTo>
                  <a:pt x="843314" y="0"/>
                  <a:pt x="846000" y="2686"/>
                  <a:pt x="846000" y="6000"/>
                </a:cubicBezTo>
                <a:lnTo>
                  <a:pt x="846000" y="6000"/>
                </a:lnTo>
                <a:lnTo>
                  <a:pt x="0" y="6000"/>
                </a:ln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923925" y="3352800"/>
            <a:ext cx="8058150" cy="504825"/>
          </a:xfrm>
          <a:custGeom>
            <a:avLst/>
            <a:gdLst/>
            <a:ahLst/>
            <a:cxnLst/>
            <a:rect l="0" t="0" r="846000" b="53000"/>
            <a:pathLst>
              <a:path w="846000" h="53000">
                <a:moveTo>
                  <a:pt x="0" y="0"/>
                </a:moveTo>
                <a:lnTo>
                  <a:pt x="846000" y="0"/>
                </a:lnTo>
                <a:lnTo>
                  <a:pt x="846000" y="53000"/>
                </a:lnTo>
                <a:lnTo>
                  <a:pt x="0" y="53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923925" y="3352800"/>
            <a:ext cx="8058150" cy="504825"/>
          </a:xfrm>
          <a:custGeom>
            <a:avLst/>
            <a:gdLst/>
            <a:ahLst/>
            <a:cxnLst/>
            <a:rect l="0" t="0" r="846000" b="53000"/>
            <a:pathLst>
              <a:path w="846000" h="53000">
                <a:moveTo>
                  <a:pt x="846000" y="53000"/>
                </a:moveTo>
                <a:lnTo>
                  <a:pt x="0" y="53000"/>
                </a:lnTo>
              </a:path>
            </a:pathLst>
          </a:custGeom>
          <a:noFill/>
          <a:ln w="9525" cap="flat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 13"/>
          <p:cNvSpPr txBox="1"/>
          <p:nvPr/>
        </p:nvSpPr>
        <p:spPr>
          <a:xfrm>
            <a:off x="1114425" y="3436412"/>
            <a:ext cx="25908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 spc="12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RESULT SCREEN · TRAP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381125" y="4252101"/>
            <a:ext cx="566589" cy="297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Input</a:t>
            </a:r>
          </a:p>
        </p:txBody>
      </p:sp>
      <p:sp>
        <p:nvSpPr>
          <p:cNvPr id="15" name="Shape 15"/>
          <p:cNvSpPr/>
          <p:nvPr/>
        </p:nvSpPr>
        <p:spPr>
          <a:xfrm>
            <a:off x="6815286" y="4296519"/>
            <a:ext cx="278606" cy="247650"/>
          </a:xfrm>
          <a:custGeom>
            <a:avLst/>
            <a:gdLst/>
            <a:ahLst/>
            <a:cxnLst/>
            <a:rect l="0" t="0" r="29250" b="26000"/>
            <a:pathLst>
              <a:path w="29250" h="26000">
                <a:moveTo>
                  <a:pt x="3441" y="0"/>
                </a:moveTo>
                <a:cubicBezTo>
                  <a:pt x="1559" y="0"/>
                  <a:pt x="0" y="1964"/>
                  <a:pt x="0" y="4333"/>
                </a:cubicBezTo>
                <a:lnTo>
                  <a:pt x="0" y="21667"/>
                </a:lnTo>
                <a:cubicBezTo>
                  <a:pt x="0" y="24036"/>
                  <a:pt x="1559" y="26000"/>
                  <a:pt x="3441" y="26000"/>
                </a:cubicBezTo>
                <a:lnTo>
                  <a:pt x="17206" y="26000"/>
                </a:lnTo>
                <a:cubicBezTo>
                  <a:pt x="19088" y="26000"/>
                  <a:pt x="20647" y="24036"/>
                  <a:pt x="20647" y="21667"/>
                </a:cubicBezTo>
                <a:lnTo>
                  <a:pt x="20647" y="4333"/>
                </a:lnTo>
                <a:cubicBezTo>
                  <a:pt x="20647" y="1964"/>
                  <a:pt x="19088" y="0"/>
                  <a:pt x="17206" y="0"/>
                </a:cubicBezTo>
                <a:lnTo>
                  <a:pt x="3441" y="0"/>
                </a:lnTo>
                <a:close/>
                <a:moveTo>
                  <a:pt x="23228" y="18417"/>
                </a:moveTo>
                <a:lnTo>
                  <a:pt x="27207" y="22411"/>
                </a:lnTo>
                <a:cubicBezTo>
                  <a:pt x="27422" y="22615"/>
                  <a:pt x="27691" y="22750"/>
                  <a:pt x="27960" y="22750"/>
                </a:cubicBezTo>
                <a:cubicBezTo>
                  <a:pt x="28659" y="22750"/>
                  <a:pt x="29250" y="22005"/>
                  <a:pt x="29250" y="21125"/>
                </a:cubicBezTo>
                <a:lnTo>
                  <a:pt x="29250" y="4875"/>
                </a:lnTo>
                <a:cubicBezTo>
                  <a:pt x="29250" y="3995"/>
                  <a:pt x="28659" y="3250"/>
                  <a:pt x="27960" y="3250"/>
                </a:cubicBezTo>
                <a:cubicBezTo>
                  <a:pt x="27691" y="3250"/>
                  <a:pt x="27422" y="3385"/>
                  <a:pt x="27207" y="3589"/>
                </a:cubicBezTo>
                <a:lnTo>
                  <a:pt x="23228" y="7583"/>
                </a:lnTo>
                <a:lnTo>
                  <a:pt x="23228" y="18417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 16"/>
          <p:cNvSpPr txBox="1"/>
          <p:nvPr/>
        </p:nvSpPr>
        <p:spPr>
          <a:xfrm>
            <a:off x="7242721" y="4209966"/>
            <a:ext cx="1282154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925"/>
              </a:lnSpc>
            </a:pPr>
            <a:r>
              <a:rPr sz="225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Hindi clip</a:t>
            </a:r>
          </a:p>
        </p:txBody>
      </p:sp>
      <p:sp>
        <p:nvSpPr>
          <p:cNvPr id="17" name="Line 17"/>
          <p:cNvSpPr/>
          <p:nvPr/>
        </p:nvSpPr>
        <p:spPr>
          <a:xfrm>
            <a:off x="1376363" y="5083671"/>
            <a:ext cx="7153275" cy="9525"/>
          </a:xfrm>
          <a:custGeom>
            <a:avLst/>
            <a:gdLst/>
            <a:ahLst/>
            <a:cxnLst/>
            <a:rect l="0" t="0" r="751000" b="1000"/>
            <a:pathLst>
              <a:path w="751000" h="1000">
                <a:moveTo>
                  <a:pt x="500" y="500"/>
                </a:moveTo>
                <a:lnTo>
                  <a:pt x="750500" y="500"/>
                </a:lnTo>
              </a:path>
            </a:pathLst>
          </a:custGeom>
          <a:noFill/>
          <a:ln w="9525" cap="flat">
            <a:solidFill>
              <a:srgbClr val="2B3A5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 18"/>
          <p:cNvSpPr txBox="1"/>
          <p:nvPr/>
        </p:nvSpPr>
        <p:spPr>
          <a:xfrm>
            <a:off x="1381125" y="5662546"/>
            <a:ext cx="1506736" cy="297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Classification</a:t>
            </a:r>
          </a:p>
        </p:txBody>
      </p:sp>
      <p:sp>
        <p:nvSpPr>
          <p:cNvPr id="19" name="Shape 19"/>
          <p:cNvSpPr/>
          <p:nvPr/>
        </p:nvSpPr>
        <p:spPr>
          <a:xfrm>
            <a:off x="4514850" y="5610225"/>
            <a:ext cx="1771650" cy="438150"/>
          </a:xfrm>
          <a:custGeom>
            <a:avLst/>
            <a:gdLst/>
            <a:ahLst/>
            <a:cxnLst/>
            <a:rect l="0" t="0" r="186000" b="46000"/>
            <a:pathLst>
              <a:path w="186000" h="46000">
                <a:moveTo>
                  <a:pt x="23000" y="0"/>
                </a:moveTo>
                <a:lnTo>
                  <a:pt x="163000" y="0"/>
                </a:lnTo>
                <a:cubicBezTo>
                  <a:pt x="175700" y="0"/>
                  <a:pt x="186000" y="10300"/>
                  <a:pt x="186000" y="23000"/>
                </a:cubicBezTo>
                <a:lnTo>
                  <a:pt x="186000" y="23000"/>
                </a:lnTo>
                <a:cubicBezTo>
                  <a:pt x="186000" y="35700"/>
                  <a:pt x="175700" y="46000"/>
                  <a:pt x="163000" y="46000"/>
                </a:cubicBezTo>
                <a:lnTo>
                  <a:pt x="23000" y="46000"/>
                </a:lnTo>
                <a:cubicBezTo>
                  <a:pt x="10300" y="46000"/>
                  <a:pt x="0" y="35700"/>
                  <a:pt x="0" y="23000"/>
                </a:cubicBezTo>
                <a:lnTo>
                  <a:pt x="0" y="23000"/>
                </a:lnTo>
                <a:cubicBezTo>
                  <a:pt x="0" y="10300"/>
                  <a:pt x="10300" y="0"/>
                  <a:pt x="23000" y="0"/>
                </a:cubicBezTo>
                <a:close/>
              </a:path>
            </a:pathLst>
          </a:custGeom>
          <a:solidFill>
            <a:srgbClr val="EF4444">
              <a:alpha val="16078"/>
            </a:srgbClr>
          </a:solidFill>
          <a:ln w="9525" cap="flat" algn="in">
            <a:solidFill>
              <a:srgbClr val="F8717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Shape 20"/>
          <p:cNvSpPr/>
          <p:nvPr/>
        </p:nvSpPr>
        <p:spPr>
          <a:xfrm>
            <a:off x="4720530" y="5736431"/>
            <a:ext cx="192732" cy="180975"/>
          </a:xfrm>
          <a:custGeom>
            <a:avLst/>
            <a:gdLst/>
            <a:ahLst/>
            <a:cxnLst/>
            <a:rect l="0" t="0" r="20234" b="19000"/>
            <a:pathLst>
              <a:path w="20234" h="19000">
                <a:moveTo>
                  <a:pt x="19433" y="104"/>
                </a:moveTo>
                <a:cubicBezTo>
                  <a:pt x="19939" y="296"/>
                  <a:pt x="20234" y="718"/>
                  <a:pt x="20234" y="1216"/>
                </a:cubicBezTo>
                <a:lnTo>
                  <a:pt x="20234" y="17160"/>
                </a:lnTo>
                <a:cubicBezTo>
                  <a:pt x="20234" y="17659"/>
                  <a:pt x="19939" y="18080"/>
                  <a:pt x="19433" y="18272"/>
                </a:cubicBezTo>
                <a:cubicBezTo>
                  <a:pt x="18970" y="18463"/>
                  <a:pt x="18380" y="18387"/>
                  <a:pt x="18000" y="18080"/>
                </a:cubicBezTo>
                <a:lnTo>
                  <a:pt x="16019" y="16509"/>
                </a:lnTo>
                <a:cubicBezTo>
                  <a:pt x="14206" y="15052"/>
                  <a:pt x="11888" y="14209"/>
                  <a:pt x="9443" y="14094"/>
                </a:cubicBezTo>
                <a:lnTo>
                  <a:pt x="9443" y="17774"/>
                </a:lnTo>
                <a:cubicBezTo>
                  <a:pt x="9443" y="18463"/>
                  <a:pt x="8853" y="19000"/>
                  <a:pt x="8094" y="19000"/>
                </a:cubicBezTo>
                <a:lnTo>
                  <a:pt x="6745" y="19000"/>
                </a:lnTo>
                <a:cubicBezTo>
                  <a:pt x="5986" y="19000"/>
                  <a:pt x="5396" y="18463"/>
                  <a:pt x="5396" y="17774"/>
                </a:cubicBezTo>
                <a:lnTo>
                  <a:pt x="5396" y="14094"/>
                </a:lnTo>
                <a:cubicBezTo>
                  <a:pt x="2403" y="14094"/>
                  <a:pt x="0" y="11909"/>
                  <a:pt x="0" y="9188"/>
                </a:cubicBezTo>
                <a:cubicBezTo>
                  <a:pt x="0" y="6467"/>
                  <a:pt x="2403" y="4282"/>
                  <a:pt x="5396" y="4282"/>
                </a:cubicBezTo>
                <a:lnTo>
                  <a:pt x="8979" y="4282"/>
                </a:lnTo>
                <a:cubicBezTo>
                  <a:pt x="11550" y="4282"/>
                  <a:pt x="14080" y="3401"/>
                  <a:pt x="16019" y="1868"/>
                </a:cubicBezTo>
                <a:lnTo>
                  <a:pt x="18000" y="296"/>
                </a:lnTo>
                <a:cubicBezTo>
                  <a:pt x="18380" y="-11"/>
                  <a:pt x="18970" y="-87"/>
                  <a:pt x="19433" y="104"/>
                </a:cubicBezTo>
                <a:close/>
                <a:moveTo>
                  <a:pt x="9443" y="11641"/>
                </a:moveTo>
                <a:lnTo>
                  <a:pt x="9443" y="11641"/>
                </a:lnTo>
                <a:cubicBezTo>
                  <a:pt x="12394" y="11756"/>
                  <a:pt x="15260" y="12753"/>
                  <a:pt x="17536" y="14477"/>
                </a:cubicBezTo>
                <a:lnTo>
                  <a:pt x="17536" y="3899"/>
                </a:lnTo>
                <a:cubicBezTo>
                  <a:pt x="15260" y="5624"/>
                  <a:pt x="12394" y="6620"/>
                  <a:pt x="9443" y="6735"/>
                </a:cubicBezTo>
                <a:lnTo>
                  <a:pt x="9443" y="11641"/>
                </a:lnTo>
                <a:close/>
              </a:path>
            </a:pathLst>
          </a:custGeom>
          <a:solidFill>
            <a:srgbClr val="F8717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 21"/>
          <p:cNvSpPr txBox="1"/>
          <p:nvPr/>
        </p:nvSpPr>
        <p:spPr>
          <a:xfrm>
            <a:off x="5030093" y="5666063"/>
            <a:ext cx="1080046" cy="2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b="1">
                <a:solidFill>
                  <a:srgbClr val="F87171"/>
                </a:solidFill>
                <a:latin typeface="Inter"/>
                <a:ea typeface="Inter"/>
                <a:cs typeface="Inter"/>
              </a:rPr>
              <a:t>Promotion</a:t>
            </a:r>
          </a:p>
        </p:txBody>
      </p:sp>
      <p:sp>
        <p:nvSpPr>
          <p:cNvPr id="22" name="Shape 22"/>
          <p:cNvSpPr/>
          <p:nvPr/>
        </p:nvSpPr>
        <p:spPr>
          <a:xfrm>
            <a:off x="6400800" y="5610225"/>
            <a:ext cx="2124075" cy="438150"/>
          </a:xfrm>
          <a:custGeom>
            <a:avLst/>
            <a:gdLst/>
            <a:ahLst/>
            <a:cxnLst/>
            <a:rect l="0" t="0" r="223000" b="46000"/>
            <a:pathLst>
              <a:path w="223000" h="46000">
                <a:moveTo>
                  <a:pt x="23000" y="0"/>
                </a:moveTo>
                <a:lnTo>
                  <a:pt x="200000" y="0"/>
                </a:lnTo>
                <a:cubicBezTo>
                  <a:pt x="212700" y="0"/>
                  <a:pt x="223000" y="10300"/>
                  <a:pt x="223000" y="23000"/>
                </a:cubicBezTo>
                <a:lnTo>
                  <a:pt x="223000" y="23000"/>
                </a:lnTo>
                <a:cubicBezTo>
                  <a:pt x="223000" y="35700"/>
                  <a:pt x="212700" y="46000"/>
                  <a:pt x="200000" y="46000"/>
                </a:cubicBezTo>
                <a:lnTo>
                  <a:pt x="23000" y="46000"/>
                </a:lnTo>
                <a:cubicBezTo>
                  <a:pt x="10300" y="46000"/>
                  <a:pt x="0" y="35700"/>
                  <a:pt x="0" y="23000"/>
                </a:cubicBezTo>
                <a:lnTo>
                  <a:pt x="0" y="23000"/>
                </a:lnTo>
                <a:cubicBezTo>
                  <a:pt x="0" y="10300"/>
                  <a:pt x="10300" y="0"/>
                  <a:pt x="23000" y="0"/>
                </a:cubicBezTo>
                <a:close/>
              </a:path>
            </a:pathLst>
          </a:custGeom>
          <a:solidFill>
            <a:srgbClr val="06B6D4">
              <a:alpha val="16078"/>
            </a:srgbClr>
          </a:solidFill>
          <a:ln w="9525" cap="flat" algn="in">
            <a:solidFill>
              <a:srgbClr val="22D3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Shape 23"/>
          <p:cNvSpPr/>
          <p:nvPr/>
        </p:nvSpPr>
        <p:spPr>
          <a:xfrm>
            <a:off x="6619726" y="5736431"/>
            <a:ext cx="169069" cy="180975"/>
          </a:xfrm>
          <a:custGeom>
            <a:avLst/>
            <a:gdLst/>
            <a:ahLst/>
            <a:cxnLst/>
            <a:rect l="0" t="0" r="17750" b="19000"/>
            <a:pathLst>
              <a:path w="17750" h="19000">
                <a:moveTo>
                  <a:pt x="17239" y="269"/>
                </a:moveTo>
                <a:cubicBezTo>
                  <a:pt x="17794" y="771"/>
                  <a:pt x="17913" y="1685"/>
                  <a:pt x="17517" y="2324"/>
                </a:cubicBezTo>
                <a:lnTo>
                  <a:pt x="7371" y="18399"/>
                </a:lnTo>
                <a:cubicBezTo>
                  <a:pt x="7133" y="18719"/>
                  <a:pt x="6816" y="18947"/>
                  <a:pt x="6460" y="18993"/>
                </a:cubicBezTo>
                <a:cubicBezTo>
                  <a:pt x="6063" y="19039"/>
                  <a:pt x="5707" y="18856"/>
                  <a:pt x="5429" y="18582"/>
                </a:cubicBezTo>
                <a:lnTo>
                  <a:pt x="357" y="12736"/>
                </a:lnTo>
                <a:cubicBezTo>
                  <a:pt x="-119" y="12143"/>
                  <a:pt x="-119" y="11229"/>
                  <a:pt x="357" y="10636"/>
                </a:cubicBezTo>
                <a:cubicBezTo>
                  <a:pt x="872" y="10088"/>
                  <a:pt x="1664" y="10088"/>
                  <a:pt x="2180" y="10636"/>
                </a:cubicBezTo>
                <a:lnTo>
                  <a:pt x="6182" y="15294"/>
                </a:lnTo>
                <a:lnTo>
                  <a:pt x="15456" y="589"/>
                </a:lnTo>
                <a:cubicBezTo>
                  <a:pt x="15892" y="-51"/>
                  <a:pt x="16684" y="-188"/>
                  <a:pt x="17239" y="269"/>
                </a:cubicBez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 24"/>
          <p:cNvSpPr txBox="1"/>
          <p:nvPr/>
        </p:nvSpPr>
        <p:spPr>
          <a:xfrm>
            <a:off x="6917382" y="5666063"/>
            <a:ext cx="1426518" cy="2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b="1">
                <a:solidFill>
                  <a:srgbClr val="22D3EE"/>
                </a:solidFill>
                <a:latin typeface="Inter"/>
                <a:ea typeface="Inter"/>
                <a:cs typeface="Inter"/>
              </a:rPr>
              <a:t>Model agrees</a:t>
            </a:r>
          </a:p>
        </p:txBody>
      </p:sp>
      <p:sp>
        <p:nvSpPr>
          <p:cNvPr id="25" name="Line 25"/>
          <p:cNvSpPr/>
          <p:nvPr/>
        </p:nvSpPr>
        <p:spPr>
          <a:xfrm>
            <a:off x="1376363" y="6568380"/>
            <a:ext cx="7153275" cy="9525"/>
          </a:xfrm>
          <a:custGeom>
            <a:avLst/>
            <a:gdLst/>
            <a:ahLst/>
            <a:cxnLst/>
            <a:rect l="0" t="0" r="751000" b="1000"/>
            <a:pathLst>
              <a:path w="751000" h="1000">
                <a:moveTo>
                  <a:pt x="500" y="500"/>
                </a:moveTo>
                <a:lnTo>
                  <a:pt x="750500" y="500"/>
                </a:lnTo>
              </a:path>
            </a:pathLst>
          </a:custGeom>
          <a:noFill/>
          <a:ln w="9525" cap="flat">
            <a:solidFill>
              <a:srgbClr val="2B3A5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Text 26"/>
          <p:cNvSpPr txBox="1"/>
          <p:nvPr/>
        </p:nvSpPr>
        <p:spPr>
          <a:xfrm>
            <a:off x="1381125" y="7147255"/>
            <a:ext cx="859334" cy="297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Caution</a:t>
            </a:r>
          </a:p>
        </p:txBody>
      </p:sp>
      <p:sp>
        <p:nvSpPr>
          <p:cNvPr id="27" name="Shape 27"/>
          <p:cNvSpPr/>
          <p:nvPr/>
        </p:nvSpPr>
        <p:spPr>
          <a:xfrm>
            <a:off x="6505575" y="7096125"/>
            <a:ext cx="2019300" cy="438150"/>
          </a:xfrm>
          <a:custGeom>
            <a:avLst/>
            <a:gdLst/>
            <a:ahLst/>
            <a:cxnLst/>
            <a:rect l="0" t="0" r="212000" b="46000"/>
            <a:pathLst>
              <a:path w="212000" h="46000">
                <a:moveTo>
                  <a:pt x="23000" y="0"/>
                </a:moveTo>
                <a:lnTo>
                  <a:pt x="189000" y="0"/>
                </a:lnTo>
                <a:cubicBezTo>
                  <a:pt x="201700" y="0"/>
                  <a:pt x="212000" y="10300"/>
                  <a:pt x="212000" y="23000"/>
                </a:cubicBezTo>
                <a:lnTo>
                  <a:pt x="212000" y="23000"/>
                </a:lnTo>
                <a:cubicBezTo>
                  <a:pt x="212000" y="35700"/>
                  <a:pt x="201700" y="46000"/>
                  <a:pt x="189000" y="46000"/>
                </a:cubicBezTo>
                <a:lnTo>
                  <a:pt x="23000" y="46000"/>
                </a:lnTo>
                <a:cubicBezTo>
                  <a:pt x="10300" y="46000"/>
                  <a:pt x="0" y="35700"/>
                  <a:pt x="0" y="23000"/>
                </a:cubicBezTo>
                <a:lnTo>
                  <a:pt x="0" y="23000"/>
                </a:lnTo>
                <a:cubicBezTo>
                  <a:pt x="0" y="10300"/>
                  <a:pt x="10300" y="0"/>
                  <a:pt x="23000" y="0"/>
                </a:cubicBezTo>
                <a:close/>
              </a:path>
            </a:pathLst>
          </a:custGeom>
          <a:solidFill>
            <a:srgbClr val="F59E0B">
              <a:alpha val="16078"/>
            </a:srgbClr>
          </a:solidFill>
          <a:ln w="9525" cap="flat" algn="in">
            <a:solidFill>
              <a:srgbClr val="F59E0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6703368" y="7221141"/>
            <a:ext cx="192732" cy="180975"/>
          </a:xfrm>
          <a:custGeom>
            <a:avLst/>
            <a:gdLst/>
            <a:ahLst/>
            <a:cxnLst/>
            <a:rect l="0" t="0" r="20234" b="19000"/>
            <a:pathLst>
              <a:path w="20234" h="19000">
                <a:moveTo>
                  <a:pt x="10117" y="0"/>
                </a:moveTo>
                <a:cubicBezTo>
                  <a:pt x="10710" y="0"/>
                  <a:pt x="11223" y="317"/>
                  <a:pt x="11500" y="831"/>
                </a:cubicBezTo>
                <a:lnTo>
                  <a:pt x="20032" y="16665"/>
                </a:lnTo>
                <a:cubicBezTo>
                  <a:pt x="20308" y="17140"/>
                  <a:pt x="20308" y="17733"/>
                  <a:pt x="19992" y="18248"/>
                </a:cubicBezTo>
                <a:cubicBezTo>
                  <a:pt x="19716" y="18723"/>
                  <a:pt x="19202" y="19000"/>
                  <a:pt x="18649" y="19000"/>
                </a:cubicBezTo>
                <a:lnTo>
                  <a:pt x="1585" y="19000"/>
                </a:lnTo>
                <a:cubicBezTo>
                  <a:pt x="1032" y="19000"/>
                  <a:pt x="519" y="18723"/>
                  <a:pt x="242" y="18248"/>
                </a:cubicBezTo>
                <a:cubicBezTo>
                  <a:pt x="-74" y="17733"/>
                  <a:pt x="-74" y="17140"/>
                  <a:pt x="203" y="16665"/>
                </a:cubicBezTo>
                <a:lnTo>
                  <a:pt x="8735" y="831"/>
                </a:lnTo>
                <a:cubicBezTo>
                  <a:pt x="9011" y="317"/>
                  <a:pt x="9525" y="0"/>
                  <a:pt x="10117" y="0"/>
                </a:cubicBezTo>
                <a:close/>
                <a:moveTo>
                  <a:pt x="10117" y="13933"/>
                </a:moveTo>
                <a:cubicBezTo>
                  <a:pt x="9406" y="13933"/>
                  <a:pt x="8853" y="14487"/>
                  <a:pt x="8853" y="15200"/>
                </a:cubicBezTo>
                <a:cubicBezTo>
                  <a:pt x="8853" y="15913"/>
                  <a:pt x="9406" y="16467"/>
                  <a:pt x="10117" y="16467"/>
                </a:cubicBezTo>
                <a:cubicBezTo>
                  <a:pt x="10828" y="16467"/>
                  <a:pt x="11381" y="15913"/>
                  <a:pt x="11381" y="15200"/>
                </a:cubicBezTo>
                <a:cubicBezTo>
                  <a:pt x="11381" y="14487"/>
                  <a:pt x="10828" y="13933"/>
                  <a:pt x="10117" y="13933"/>
                </a:cubicBezTo>
                <a:close/>
                <a:moveTo>
                  <a:pt x="10117" y="6333"/>
                </a:moveTo>
                <a:cubicBezTo>
                  <a:pt x="9406" y="6333"/>
                  <a:pt x="8814" y="6967"/>
                  <a:pt x="8893" y="7679"/>
                </a:cubicBezTo>
                <a:lnTo>
                  <a:pt x="9169" y="11796"/>
                </a:lnTo>
                <a:cubicBezTo>
                  <a:pt x="9209" y="12271"/>
                  <a:pt x="9604" y="12667"/>
                  <a:pt x="10117" y="12667"/>
                </a:cubicBezTo>
                <a:cubicBezTo>
                  <a:pt x="10631" y="12667"/>
                  <a:pt x="11026" y="12271"/>
                  <a:pt x="11065" y="11796"/>
                </a:cubicBezTo>
                <a:lnTo>
                  <a:pt x="11342" y="7679"/>
                </a:lnTo>
                <a:cubicBezTo>
                  <a:pt x="11421" y="6967"/>
                  <a:pt x="10828" y="6333"/>
                  <a:pt x="10117" y="6333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 29"/>
          <p:cNvSpPr txBox="1"/>
          <p:nvPr/>
        </p:nvSpPr>
        <p:spPr>
          <a:xfrm>
            <a:off x="7012930" y="7150773"/>
            <a:ext cx="1330970" cy="2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High caution</a:t>
            </a:r>
          </a:p>
        </p:txBody>
      </p:sp>
      <p:sp>
        <p:nvSpPr>
          <p:cNvPr id="30" name="Line 30"/>
          <p:cNvSpPr/>
          <p:nvPr/>
        </p:nvSpPr>
        <p:spPr>
          <a:xfrm>
            <a:off x="1376363" y="8053090"/>
            <a:ext cx="7153275" cy="9525"/>
          </a:xfrm>
          <a:custGeom>
            <a:avLst/>
            <a:gdLst/>
            <a:ahLst/>
            <a:cxnLst/>
            <a:rect l="0" t="0" r="751000" b="1000"/>
            <a:pathLst>
              <a:path w="751000" h="1000">
                <a:moveTo>
                  <a:pt x="500" y="500"/>
                </a:moveTo>
                <a:lnTo>
                  <a:pt x="750500" y="500"/>
                </a:lnTo>
              </a:path>
            </a:pathLst>
          </a:custGeom>
          <a:noFill/>
          <a:ln w="9525" cap="flat">
            <a:solidFill>
              <a:srgbClr val="2B3A5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Text 31"/>
          <p:cNvSpPr txBox="1"/>
          <p:nvPr/>
        </p:nvSpPr>
        <p:spPr>
          <a:xfrm>
            <a:off x="1381125" y="8669022"/>
            <a:ext cx="594122" cy="297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Flags</a:t>
            </a:r>
          </a:p>
        </p:txBody>
      </p:sp>
      <p:sp>
        <p:nvSpPr>
          <p:cNvPr id="32" name="Shape 32"/>
          <p:cNvSpPr/>
          <p:nvPr/>
        </p:nvSpPr>
        <p:spPr>
          <a:xfrm>
            <a:off x="6156424" y="8694390"/>
            <a:ext cx="285750" cy="285750"/>
          </a:xfrm>
          <a:custGeom>
            <a:avLst/>
            <a:gdLst/>
            <a:ahLst/>
            <a:cxnLst/>
            <a:rect l="0" t="0" r="30000" b="30000"/>
            <a:pathLst>
              <a:path w="30000" h="30000">
                <a:moveTo>
                  <a:pt x="15000" y="0"/>
                </a:moveTo>
                <a:cubicBezTo>
                  <a:pt x="15878" y="0"/>
                  <a:pt x="16640" y="500"/>
                  <a:pt x="17050" y="1313"/>
                </a:cubicBezTo>
                <a:lnTo>
                  <a:pt x="29699" y="26313"/>
                </a:lnTo>
                <a:cubicBezTo>
                  <a:pt x="30109" y="27063"/>
                  <a:pt x="30109" y="28000"/>
                  <a:pt x="29641" y="28813"/>
                </a:cubicBezTo>
                <a:cubicBezTo>
                  <a:pt x="29231" y="29563"/>
                  <a:pt x="28470" y="30000"/>
                  <a:pt x="27650" y="30000"/>
                </a:cubicBezTo>
                <a:lnTo>
                  <a:pt x="2350" y="30000"/>
                </a:lnTo>
                <a:cubicBezTo>
                  <a:pt x="1530" y="30000"/>
                  <a:pt x="769" y="29563"/>
                  <a:pt x="359" y="28813"/>
                </a:cubicBezTo>
                <a:cubicBezTo>
                  <a:pt x="-109" y="28000"/>
                  <a:pt x="-109" y="27063"/>
                  <a:pt x="301" y="26313"/>
                </a:cubicBezTo>
                <a:lnTo>
                  <a:pt x="12950" y="1313"/>
                </a:lnTo>
                <a:cubicBezTo>
                  <a:pt x="13360" y="500"/>
                  <a:pt x="14122" y="0"/>
                  <a:pt x="15000" y="0"/>
                </a:cubicBezTo>
                <a:close/>
                <a:moveTo>
                  <a:pt x="15000" y="22000"/>
                </a:moveTo>
                <a:cubicBezTo>
                  <a:pt x="13946" y="22000"/>
                  <a:pt x="13126" y="22875"/>
                  <a:pt x="13126" y="24000"/>
                </a:cubicBezTo>
                <a:cubicBezTo>
                  <a:pt x="13126" y="25125"/>
                  <a:pt x="13946" y="26000"/>
                  <a:pt x="15000" y="26000"/>
                </a:cubicBezTo>
                <a:cubicBezTo>
                  <a:pt x="16054" y="26000"/>
                  <a:pt x="16874" y="25125"/>
                  <a:pt x="16874" y="24000"/>
                </a:cubicBezTo>
                <a:cubicBezTo>
                  <a:pt x="16874" y="22875"/>
                  <a:pt x="16054" y="22000"/>
                  <a:pt x="15000" y="22000"/>
                </a:cubicBezTo>
                <a:close/>
                <a:moveTo>
                  <a:pt x="15000" y="10000"/>
                </a:moveTo>
                <a:cubicBezTo>
                  <a:pt x="13946" y="10000"/>
                  <a:pt x="13067" y="11000"/>
                  <a:pt x="13185" y="12125"/>
                </a:cubicBezTo>
                <a:lnTo>
                  <a:pt x="13594" y="18625"/>
                </a:lnTo>
                <a:cubicBezTo>
                  <a:pt x="13653" y="19375"/>
                  <a:pt x="14239" y="20000"/>
                  <a:pt x="15000" y="20000"/>
                </a:cubicBezTo>
                <a:cubicBezTo>
                  <a:pt x="15761" y="20000"/>
                  <a:pt x="16347" y="19375"/>
                  <a:pt x="16406" y="18625"/>
                </a:cubicBezTo>
                <a:lnTo>
                  <a:pt x="16815" y="12125"/>
                </a:lnTo>
                <a:cubicBezTo>
                  <a:pt x="16933" y="11000"/>
                  <a:pt x="16054" y="10000"/>
                  <a:pt x="15000" y="1000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Shape 33"/>
          <p:cNvSpPr/>
          <p:nvPr/>
        </p:nvSpPr>
        <p:spPr>
          <a:xfrm>
            <a:off x="6627912" y="8694390"/>
            <a:ext cx="285750" cy="285750"/>
          </a:xfrm>
          <a:custGeom>
            <a:avLst/>
            <a:gdLst/>
            <a:ahLst/>
            <a:cxnLst/>
            <a:rect l="0" t="0" r="30000" b="30000"/>
            <a:pathLst>
              <a:path w="30000" h="30000">
                <a:moveTo>
                  <a:pt x="15000" y="0"/>
                </a:moveTo>
                <a:cubicBezTo>
                  <a:pt x="15878" y="0"/>
                  <a:pt x="16640" y="500"/>
                  <a:pt x="17050" y="1313"/>
                </a:cubicBezTo>
                <a:lnTo>
                  <a:pt x="29699" y="26313"/>
                </a:lnTo>
                <a:cubicBezTo>
                  <a:pt x="30109" y="27063"/>
                  <a:pt x="30109" y="28000"/>
                  <a:pt x="29641" y="28813"/>
                </a:cubicBezTo>
                <a:cubicBezTo>
                  <a:pt x="29231" y="29563"/>
                  <a:pt x="28470" y="30000"/>
                  <a:pt x="27650" y="30000"/>
                </a:cubicBezTo>
                <a:lnTo>
                  <a:pt x="2350" y="30000"/>
                </a:lnTo>
                <a:cubicBezTo>
                  <a:pt x="1530" y="30000"/>
                  <a:pt x="769" y="29563"/>
                  <a:pt x="359" y="28813"/>
                </a:cubicBezTo>
                <a:cubicBezTo>
                  <a:pt x="-109" y="28000"/>
                  <a:pt x="-109" y="27063"/>
                  <a:pt x="301" y="26313"/>
                </a:cubicBezTo>
                <a:lnTo>
                  <a:pt x="12950" y="1313"/>
                </a:lnTo>
                <a:cubicBezTo>
                  <a:pt x="13360" y="500"/>
                  <a:pt x="14122" y="0"/>
                  <a:pt x="15000" y="0"/>
                </a:cubicBezTo>
                <a:close/>
                <a:moveTo>
                  <a:pt x="15000" y="22000"/>
                </a:moveTo>
                <a:cubicBezTo>
                  <a:pt x="13946" y="22000"/>
                  <a:pt x="13126" y="22875"/>
                  <a:pt x="13126" y="24000"/>
                </a:cubicBezTo>
                <a:cubicBezTo>
                  <a:pt x="13126" y="25125"/>
                  <a:pt x="13946" y="26000"/>
                  <a:pt x="15000" y="26000"/>
                </a:cubicBezTo>
                <a:cubicBezTo>
                  <a:pt x="16054" y="26000"/>
                  <a:pt x="16874" y="25125"/>
                  <a:pt x="16874" y="24000"/>
                </a:cubicBezTo>
                <a:cubicBezTo>
                  <a:pt x="16874" y="22875"/>
                  <a:pt x="16054" y="22000"/>
                  <a:pt x="15000" y="22000"/>
                </a:cubicBezTo>
                <a:close/>
                <a:moveTo>
                  <a:pt x="15000" y="10000"/>
                </a:moveTo>
                <a:cubicBezTo>
                  <a:pt x="13946" y="10000"/>
                  <a:pt x="13067" y="11000"/>
                  <a:pt x="13185" y="12125"/>
                </a:cubicBezTo>
                <a:lnTo>
                  <a:pt x="13594" y="18625"/>
                </a:lnTo>
                <a:cubicBezTo>
                  <a:pt x="13653" y="19375"/>
                  <a:pt x="14239" y="20000"/>
                  <a:pt x="15000" y="20000"/>
                </a:cubicBezTo>
                <a:cubicBezTo>
                  <a:pt x="15761" y="20000"/>
                  <a:pt x="16347" y="19375"/>
                  <a:pt x="16406" y="18625"/>
                </a:cubicBezTo>
                <a:lnTo>
                  <a:pt x="16815" y="12125"/>
                </a:lnTo>
                <a:cubicBezTo>
                  <a:pt x="16933" y="11000"/>
                  <a:pt x="16054" y="10000"/>
                  <a:pt x="15000" y="1000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Shape 34"/>
          <p:cNvSpPr/>
          <p:nvPr/>
        </p:nvSpPr>
        <p:spPr>
          <a:xfrm>
            <a:off x="7099399" y="8694390"/>
            <a:ext cx="285750" cy="285750"/>
          </a:xfrm>
          <a:custGeom>
            <a:avLst/>
            <a:gdLst/>
            <a:ahLst/>
            <a:cxnLst/>
            <a:rect l="0" t="0" r="30000" b="30000"/>
            <a:pathLst>
              <a:path w="30000" h="30000">
                <a:moveTo>
                  <a:pt x="15000" y="0"/>
                </a:moveTo>
                <a:cubicBezTo>
                  <a:pt x="15878" y="0"/>
                  <a:pt x="16640" y="500"/>
                  <a:pt x="17050" y="1313"/>
                </a:cubicBezTo>
                <a:lnTo>
                  <a:pt x="29699" y="26313"/>
                </a:lnTo>
                <a:cubicBezTo>
                  <a:pt x="30109" y="27063"/>
                  <a:pt x="30109" y="28000"/>
                  <a:pt x="29641" y="28813"/>
                </a:cubicBezTo>
                <a:cubicBezTo>
                  <a:pt x="29231" y="29563"/>
                  <a:pt x="28470" y="30000"/>
                  <a:pt x="27650" y="30000"/>
                </a:cubicBezTo>
                <a:lnTo>
                  <a:pt x="2350" y="30000"/>
                </a:lnTo>
                <a:cubicBezTo>
                  <a:pt x="1530" y="30000"/>
                  <a:pt x="769" y="29563"/>
                  <a:pt x="359" y="28813"/>
                </a:cubicBezTo>
                <a:cubicBezTo>
                  <a:pt x="-109" y="28000"/>
                  <a:pt x="-109" y="27063"/>
                  <a:pt x="301" y="26313"/>
                </a:cubicBezTo>
                <a:lnTo>
                  <a:pt x="12950" y="1313"/>
                </a:lnTo>
                <a:cubicBezTo>
                  <a:pt x="13360" y="500"/>
                  <a:pt x="14122" y="0"/>
                  <a:pt x="15000" y="0"/>
                </a:cubicBezTo>
                <a:close/>
                <a:moveTo>
                  <a:pt x="15000" y="22000"/>
                </a:moveTo>
                <a:cubicBezTo>
                  <a:pt x="13946" y="22000"/>
                  <a:pt x="13126" y="22875"/>
                  <a:pt x="13126" y="24000"/>
                </a:cubicBezTo>
                <a:cubicBezTo>
                  <a:pt x="13126" y="25125"/>
                  <a:pt x="13946" y="26000"/>
                  <a:pt x="15000" y="26000"/>
                </a:cubicBezTo>
                <a:cubicBezTo>
                  <a:pt x="16054" y="26000"/>
                  <a:pt x="16874" y="25125"/>
                  <a:pt x="16874" y="24000"/>
                </a:cubicBezTo>
                <a:cubicBezTo>
                  <a:pt x="16874" y="22875"/>
                  <a:pt x="16054" y="22000"/>
                  <a:pt x="15000" y="22000"/>
                </a:cubicBezTo>
                <a:close/>
                <a:moveTo>
                  <a:pt x="15000" y="10000"/>
                </a:moveTo>
                <a:cubicBezTo>
                  <a:pt x="13946" y="10000"/>
                  <a:pt x="13067" y="11000"/>
                  <a:pt x="13185" y="12125"/>
                </a:cubicBezTo>
                <a:lnTo>
                  <a:pt x="13594" y="18625"/>
                </a:lnTo>
                <a:cubicBezTo>
                  <a:pt x="13653" y="19375"/>
                  <a:pt x="14239" y="20000"/>
                  <a:pt x="15000" y="20000"/>
                </a:cubicBezTo>
                <a:cubicBezTo>
                  <a:pt x="15761" y="20000"/>
                  <a:pt x="16347" y="19375"/>
                  <a:pt x="16406" y="18625"/>
                </a:cubicBezTo>
                <a:lnTo>
                  <a:pt x="16815" y="12125"/>
                </a:lnTo>
                <a:cubicBezTo>
                  <a:pt x="16933" y="11000"/>
                  <a:pt x="16054" y="10000"/>
                  <a:pt x="15000" y="1000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Shape 35"/>
          <p:cNvSpPr/>
          <p:nvPr/>
        </p:nvSpPr>
        <p:spPr>
          <a:xfrm>
            <a:off x="7570887" y="8694390"/>
            <a:ext cx="285750" cy="285750"/>
          </a:xfrm>
          <a:custGeom>
            <a:avLst/>
            <a:gdLst/>
            <a:ahLst/>
            <a:cxnLst/>
            <a:rect l="0" t="0" r="30000" b="30000"/>
            <a:pathLst>
              <a:path w="30000" h="30000">
                <a:moveTo>
                  <a:pt x="15000" y="0"/>
                </a:moveTo>
                <a:cubicBezTo>
                  <a:pt x="15878" y="0"/>
                  <a:pt x="16640" y="500"/>
                  <a:pt x="17050" y="1313"/>
                </a:cubicBezTo>
                <a:lnTo>
                  <a:pt x="29699" y="26313"/>
                </a:lnTo>
                <a:cubicBezTo>
                  <a:pt x="30109" y="27063"/>
                  <a:pt x="30109" y="28000"/>
                  <a:pt x="29641" y="28813"/>
                </a:cubicBezTo>
                <a:cubicBezTo>
                  <a:pt x="29231" y="29563"/>
                  <a:pt x="28470" y="30000"/>
                  <a:pt x="27650" y="30000"/>
                </a:cubicBezTo>
                <a:lnTo>
                  <a:pt x="2350" y="30000"/>
                </a:lnTo>
                <a:cubicBezTo>
                  <a:pt x="1530" y="30000"/>
                  <a:pt x="769" y="29563"/>
                  <a:pt x="359" y="28813"/>
                </a:cubicBezTo>
                <a:cubicBezTo>
                  <a:pt x="-109" y="28000"/>
                  <a:pt x="-109" y="27063"/>
                  <a:pt x="301" y="26313"/>
                </a:cubicBezTo>
                <a:lnTo>
                  <a:pt x="12950" y="1313"/>
                </a:lnTo>
                <a:cubicBezTo>
                  <a:pt x="13360" y="500"/>
                  <a:pt x="14122" y="0"/>
                  <a:pt x="15000" y="0"/>
                </a:cubicBezTo>
                <a:close/>
                <a:moveTo>
                  <a:pt x="15000" y="22000"/>
                </a:moveTo>
                <a:cubicBezTo>
                  <a:pt x="13946" y="22000"/>
                  <a:pt x="13126" y="22875"/>
                  <a:pt x="13126" y="24000"/>
                </a:cubicBezTo>
                <a:cubicBezTo>
                  <a:pt x="13126" y="25125"/>
                  <a:pt x="13946" y="26000"/>
                  <a:pt x="15000" y="26000"/>
                </a:cubicBezTo>
                <a:cubicBezTo>
                  <a:pt x="16054" y="26000"/>
                  <a:pt x="16874" y="25125"/>
                  <a:pt x="16874" y="24000"/>
                </a:cubicBezTo>
                <a:cubicBezTo>
                  <a:pt x="16874" y="22875"/>
                  <a:pt x="16054" y="22000"/>
                  <a:pt x="15000" y="22000"/>
                </a:cubicBezTo>
                <a:close/>
                <a:moveTo>
                  <a:pt x="15000" y="10000"/>
                </a:moveTo>
                <a:cubicBezTo>
                  <a:pt x="13946" y="10000"/>
                  <a:pt x="13067" y="11000"/>
                  <a:pt x="13185" y="12125"/>
                </a:cubicBezTo>
                <a:lnTo>
                  <a:pt x="13594" y="18625"/>
                </a:lnTo>
                <a:cubicBezTo>
                  <a:pt x="13653" y="19375"/>
                  <a:pt x="14239" y="20000"/>
                  <a:pt x="15000" y="20000"/>
                </a:cubicBezTo>
                <a:cubicBezTo>
                  <a:pt x="15761" y="20000"/>
                  <a:pt x="16347" y="19375"/>
                  <a:pt x="16406" y="18625"/>
                </a:cubicBezTo>
                <a:lnTo>
                  <a:pt x="16815" y="12125"/>
                </a:lnTo>
                <a:cubicBezTo>
                  <a:pt x="16933" y="11000"/>
                  <a:pt x="16054" y="10000"/>
                  <a:pt x="15000" y="10000"/>
                </a:cubicBezTo>
                <a:close/>
              </a:path>
            </a:pathLst>
          </a:cu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Text 36"/>
          <p:cNvSpPr txBox="1"/>
          <p:nvPr/>
        </p:nvSpPr>
        <p:spPr>
          <a:xfrm>
            <a:off x="8159055" y="8508200"/>
            <a:ext cx="365820" cy="6704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5280"/>
              </a:lnSpc>
            </a:pPr>
            <a:r>
              <a:rPr sz="4800" b="1">
                <a:solidFill>
                  <a:srgbClr val="F59E0B"/>
                </a:solidFill>
                <a:latin typeface="JetBrains Mono"/>
                <a:ea typeface="JetBrains Mono"/>
                <a:cs typeface="JetBrains Mono"/>
              </a:rPr>
              <a:t>4</a:t>
            </a:r>
          </a:p>
        </p:txBody>
      </p:sp>
      <p:sp>
        <p:nvSpPr>
          <p:cNvPr id="37" name="Shape 37"/>
          <p:cNvSpPr/>
          <p:nvPr/>
        </p:nvSpPr>
        <p:spPr>
          <a:xfrm>
            <a:off x="9296400" y="3286125"/>
            <a:ext cx="8077200" cy="6238875"/>
          </a:xfrm>
          <a:custGeom>
            <a:avLst/>
            <a:gdLst/>
            <a:ahLst/>
            <a:cxnLst/>
            <a:rect l="0" t="0" r="848000" b="655000"/>
            <a:pathLst>
              <a:path w="848000" h="655000">
                <a:moveTo>
                  <a:pt x="14000" y="0"/>
                </a:moveTo>
                <a:lnTo>
                  <a:pt x="834000" y="0"/>
                </a:lnTo>
                <a:cubicBezTo>
                  <a:pt x="841730" y="0"/>
                  <a:pt x="848000" y="6270"/>
                  <a:pt x="848000" y="14000"/>
                </a:cubicBezTo>
                <a:lnTo>
                  <a:pt x="848000" y="641000"/>
                </a:lnTo>
                <a:cubicBezTo>
                  <a:pt x="848000" y="648730"/>
                  <a:pt x="841730" y="655000"/>
                  <a:pt x="834000" y="655000"/>
                </a:cubicBezTo>
                <a:lnTo>
                  <a:pt x="14000" y="655000"/>
                </a:lnTo>
                <a:cubicBezTo>
                  <a:pt x="6270" y="655000"/>
                  <a:pt x="0" y="648730"/>
                  <a:pt x="0" y="641000"/>
                </a:cubicBezTo>
                <a:lnTo>
                  <a:pt x="0" y="14000"/>
                </a:lnTo>
                <a:cubicBezTo>
                  <a:pt x="0" y="6270"/>
                  <a:pt x="6270" y="0"/>
                  <a:pt x="14000" y="0"/>
                </a:cubicBezTo>
                <a:close/>
              </a:path>
            </a:pathLst>
          </a:custGeom>
          <a:solidFill>
            <a:srgbClr val="0A0F1D"/>
          </a:solidFill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Shape 38"/>
          <p:cNvSpPr/>
          <p:nvPr/>
        </p:nvSpPr>
        <p:spPr>
          <a:xfrm>
            <a:off x="9305925" y="3295650"/>
            <a:ext cx="8058150" cy="57150"/>
          </a:xfrm>
          <a:custGeom>
            <a:avLst/>
            <a:gdLst/>
            <a:ahLst/>
            <a:cxnLst/>
            <a:rect l="0" t="0" r="846000" b="6000"/>
            <a:pathLst>
              <a:path w="846000" h="6000">
                <a:moveTo>
                  <a:pt x="6000" y="0"/>
                </a:moveTo>
                <a:lnTo>
                  <a:pt x="840000" y="0"/>
                </a:lnTo>
                <a:cubicBezTo>
                  <a:pt x="843314" y="0"/>
                  <a:pt x="846000" y="2686"/>
                  <a:pt x="846000" y="6000"/>
                </a:cubicBezTo>
                <a:lnTo>
                  <a:pt x="846000" y="6000"/>
                </a:lnTo>
                <a:lnTo>
                  <a:pt x="0" y="6000"/>
                </a:lnTo>
                <a:lnTo>
                  <a:pt x="0" y="6000"/>
                </a:lnTo>
                <a:cubicBezTo>
                  <a:pt x="0" y="2686"/>
                  <a:pt x="2686" y="0"/>
                  <a:pt x="6000" y="0"/>
                </a:cubicBezTo>
                <a:close/>
              </a:path>
            </a:pathLst>
          </a:cu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9305925" y="3352800"/>
            <a:ext cx="8058150" cy="504825"/>
          </a:xfrm>
          <a:custGeom>
            <a:avLst/>
            <a:gdLst/>
            <a:ahLst/>
            <a:cxnLst/>
            <a:rect l="0" t="0" r="846000" b="53000"/>
            <a:pathLst>
              <a:path w="846000" h="53000">
                <a:moveTo>
                  <a:pt x="0" y="0"/>
                </a:moveTo>
                <a:lnTo>
                  <a:pt x="846000" y="0"/>
                </a:lnTo>
                <a:lnTo>
                  <a:pt x="846000" y="53000"/>
                </a:lnTo>
                <a:lnTo>
                  <a:pt x="0" y="53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Shape 40"/>
          <p:cNvSpPr/>
          <p:nvPr/>
        </p:nvSpPr>
        <p:spPr>
          <a:xfrm>
            <a:off x="9305925" y="3352800"/>
            <a:ext cx="8058150" cy="504825"/>
          </a:xfrm>
          <a:custGeom>
            <a:avLst/>
            <a:gdLst/>
            <a:ahLst/>
            <a:cxnLst/>
            <a:rect l="0" t="0" r="846000" b="53000"/>
            <a:pathLst>
              <a:path w="846000" h="53000">
                <a:moveTo>
                  <a:pt x="846000" y="53000"/>
                </a:moveTo>
                <a:lnTo>
                  <a:pt x="0" y="53000"/>
                </a:lnTo>
              </a:path>
            </a:pathLst>
          </a:custGeom>
          <a:noFill/>
          <a:ln w="9525" cap="flat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 41"/>
          <p:cNvSpPr txBox="1"/>
          <p:nvPr/>
        </p:nvSpPr>
        <p:spPr>
          <a:xfrm>
            <a:off x="9496425" y="3436412"/>
            <a:ext cx="284991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 spc="120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RESULT SCREEN · LESSON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9763125" y="4252101"/>
            <a:ext cx="566589" cy="297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Input</a:t>
            </a:r>
          </a:p>
        </p:txBody>
      </p:sp>
      <p:sp>
        <p:nvSpPr>
          <p:cNvPr id="43" name="Shape 43"/>
          <p:cNvSpPr/>
          <p:nvPr/>
        </p:nvSpPr>
        <p:spPr>
          <a:xfrm>
            <a:off x="13791009" y="4296519"/>
            <a:ext cx="247650" cy="247650"/>
          </a:xfrm>
          <a:custGeom>
            <a:avLst/>
            <a:gdLst/>
            <a:ahLst/>
            <a:cxnLst/>
            <a:rect l="0" t="0" r="26000" b="26000"/>
            <a:pathLst>
              <a:path w="26000" h="26000">
                <a:moveTo>
                  <a:pt x="13000" y="5840"/>
                </a:moveTo>
                <a:lnTo>
                  <a:pt x="13000" y="22450"/>
                </a:lnTo>
                <a:lnTo>
                  <a:pt x="13051" y="22397"/>
                </a:lnTo>
                <a:cubicBezTo>
                  <a:pt x="15793" y="21218"/>
                  <a:pt x="18789" y="20575"/>
                  <a:pt x="21785" y="20575"/>
                </a:cubicBezTo>
                <a:lnTo>
                  <a:pt x="22750" y="20575"/>
                </a:lnTo>
                <a:lnTo>
                  <a:pt x="22750" y="3429"/>
                </a:lnTo>
                <a:lnTo>
                  <a:pt x="21785" y="3429"/>
                </a:lnTo>
                <a:cubicBezTo>
                  <a:pt x="19652" y="3429"/>
                  <a:pt x="17520" y="3858"/>
                  <a:pt x="15539" y="4769"/>
                </a:cubicBezTo>
                <a:cubicBezTo>
                  <a:pt x="14676" y="5144"/>
                  <a:pt x="13813" y="5519"/>
                  <a:pt x="13000" y="5840"/>
                </a:cubicBezTo>
                <a:close/>
                <a:moveTo>
                  <a:pt x="11730" y="1607"/>
                </a:moveTo>
                <a:lnTo>
                  <a:pt x="13000" y="2143"/>
                </a:lnTo>
                <a:lnTo>
                  <a:pt x="14270" y="1607"/>
                </a:lnTo>
                <a:cubicBezTo>
                  <a:pt x="16656" y="536"/>
                  <a:pt x="19195" y="0"/>
                  <a:pt x="21785" y="0"/>
                </a:cubicBezTo>
                <a:lnTo>
                  <a:pt x="23563" y="0"/>
                </a:lnTo>
                <a:cubicBezTo>
                  <a:pt x="24934" y="0"/>
                  <a:pt x="26000" y="1179"/>
                  <a:pt x="26000" y="2572"/>
                </a:cubicBezTo>
                <a:lnTo>
                  <a:pt x="26000" y="21432"/>
                </a:lnTo>
                <a:cubicBezTo>
                  <a:pt x="26000" y="22879"/>
                  <a:pt x="24934" y="24004"/>
                  <a:pt x="23563" y="24004"/>
                </a:cubicBezTo>
                <a:lnTo>
                  <a:pt x="21785" y="24004"/>
                </a:lnTo>
                <a:cubicBezTo>
                  <a:pt x="19195" y="24004"/>
                  <a:pt x="16656" y="24540"/>
                  <a:pt x="14270" y="25612"/>
                </a:cubicBezTo>
                <a:lnTo>
                  <a:pt x="13609" y="25879"/>
                </a:lnTo>
                <a:cubicBezTo>
                  <a:pt x="13203" y="26040"/>
                  <a:pt x="12797" y="26040"/>
                  <a:pt x="12391" y="25879"/>
                </a:cubicBezTo>
                <a:lnTo>
                  <a:pt x="11730" y="25612"/>
                </a:lnTo>
                <a:cubicBezTo>
                  <a:pt x="9344" y="24540"/>
                  <a:pt x="6805" y="24004"/>
                  <a:pt x="4215" y="24004"/>
                </a:cubicBezTo>
                <a:lnTo>
                  <a:pt x="2438" y="24004"/>
                </a:lnTo>
                <a:cubicBezTo>
                  <a:pt x="1117" y="24004"/>
                  <a:pt x="0" y="22879"/>
                  <a:pt x="0" y="21432"/>
                </a:cubicBezTo>
                <a:lnTo>
                  <a:pt x="0" y="2572"/>
                </a:lnTo>
                <a:cubicBezTo>
                  <a:pt x="0" y="1179"/>
                  <a:pt x="1117" y="0"/>
                  <a:pt x="2438" y="0"/>
                </a:cubicBezTo>
                <a:lnTo>
                  <a:pt x="4215" y="0"/>
                </a:lnTo>
                <a:cubicBezTo>
                  <a:pt x="6805" y="0"/>
                  <a:pt x="9344" y="536"/>
                  <a:pt x="11730" y="1607"/>
                </a:cubicBez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Text 44"/>
          <p:cNvSpPr txBox="1"/>
          <p:nvPr/>
        </p:nvSpPr>
        <p:spPr>
          <a:xfrm>
            <a:off x="14202966" y="4209966"/>
            <a:ext cx="2703909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925"/>
              </a:lnSpc>
            </a:pPr>
            <a:r>
              <a:rPr sz="225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Mutual-fund lesson</a:t>
            </a:r>
          </a:p>
        </p:txBody>
      </p:sp>
      <p:sp>
        <p:nvSpPr>
          <p:cNvPr id="45" name="Line 45"/>
          <p:cNvSpPr/>
          <p:nvPr/>
        </p:nvSpPr>
        <p:spPr>
          <a:xfrm>
            <a:off x="9758363" y="5083671"/>
            <a:ext cx="7153275" cy="9525"/>
          </a:xfrm>
          <a:custGeom>
            <a:avLst/>
            <a:gdLst/>
            <a:ahLst/>
            <a:cxnLst/>
            <a:rect l="0" t="0" r="751000" b="1000"/>
            <a:pathLst>
              <a:path w="751000" h="1000">
                <a:moveTo>
                  <a:pt x="500" y="500"/>
                </a:moveTo>
                <a:lnTo>
                  <a:pt x="750500" y="500"/>
                </a:lnTo>
              </a:path>
            </a:pathLst>
          </a:custGeom>
          <a:noFill/>
          <a:ln w="9525" cap="flat">
            <a:solidFill>
              <a:srgbClr val="2B3A5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Text 46"/>
          <p:cNvSpPr txBox="1"/>
          <p:nvPr/>
        </p:nvSpPr>
        <p:spPr>
          <a:xfrm>
            <a:off x="9763125" y="5662546"/>
            <a:ext cx="1506736" cy="297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Classification</a:t>
            </a:r>
          </a:p>
        </p:txBody>
      </p:sp>
      <p:sp>
        <p:nvSpPr>
          <p:cNvPr id="47" name="Shape 47"/>
          <p:cNvSpPr/>
          <p:nvPr/>
        </p:nvSpPr>
        <p:spPr>
          <a:xfrm>
            <a:off x="15163800" y="5610225"/>
            <a:ext cx="1743075" cy="438150"/>
          </a:xfrm>
          <a:custGeom>
            <a:avLst/>
            <a:gdLst/>
            <a:ahLst/>
            <a:cxnLst/>
            <a:rect l="0" t="0" r="183000" b="46000"/>
            <a:pathLst>
              <a:path w="183000" h="46000">
                <a:moveTo>
                  <a:pt x="23000" y="0"/>
                </a:moveTo>
                <a:lnTo>
                  <a:pt x="160000" y="0"/>
                </a:lnTo>
                <a:cubicBezTo>
                  <a:pt x="172700" y="0"/>
                  <a:pt x="183000" y="10300"/>
                  <a:pt x="183000" y="23000"/>
                </a:cubicBezTo>
                <a:lnTo>
                  <a:pt x="183000" y="23000"/>
                </a:lnTo>
                <a:cubicBezTo>
                  <a:pt x="183000" y="35700"/>
                  <a:pt x="172700" y="46000"/>
                  <a:pt x="160000" y="46000"/>
                </a:cubicBezTo>
                <a:lnTo>
                  <a:pt x="23000" y="46000"/>
                </a:lnTo>
                <a:cubicBezTo>
                  <a:pt x="10300" y="46000"/>
                  <a:pt x="0" y="35700"/>
                  <a:pt x="0" y="23000"/>
                </a:cubicBezTo>
                <a:lnTo>
                  <a:pt x="0" y="23000"/>
                </a:lnTo>
                <a:cubicBezTo>
                  <a:pt x="0" y="10300"/>
                  <a:pt x="10300" y="0"/>
                  <a:pt x="23000" y="0"/>
                </a:cubicBezTo>
                <a:close/>
              </a:path>
            </a:pathLst>
          </a:custGeom>
          <a:solidFill>
            <a:srgbClr val="10B981">
              <a:alpha val="16078"/>
            </a:srgbClr>
          </a:solidFill>
          <a:ln w="9525" cap="flat" algn="in">
            <a:solidFill>
              <a:srgbClr val="34D39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Shape 48"/>
          <p:cNvSpPr/>
          <p:nvPr/>
        </p:nvSpPr>
        <p:spPr>
          <a:xfrm>
            <a:off x="15351770" y="5736431"/>
            <a:ext cx="216247" cy="180975"/>
          </a:xfrm>
          <a:custGeom>
            <a:avLst/>
            <a:gdLst/>
            <a:ahLst/>
            <a:cxnLst/>
            <a:rect l="0" t="0" r="22703" b="19000"/>
            <a:pathLst>
              <a:path w="22703" h="19000">
                <a:moveTo>
                  <a:pt x="1892" y="6955"/>
                </a:moveTo>
                <a:lnTo>
                  <a:pt x="10130" y="10603"/>
                </a:lnTo>
                <a:cubicBezTo>
                  <a:pt x="10524" y="10772"/>
                  <a:pt x="10918" y="10857"/>
                  <a:pt x="11352" y="10857"/>
                </a:cubicBezTo>
                <a:cubicBezTo>
                  <a:pt x="11785" y="10857"/>
                  <a:pt x="12179" y="10772"/>
                  <a:pt x="12573" y="10603"/>
                </a:cubicBezTo>
                <a:lnTo>
                  <a:pt x="22112" y="6362"/>
                </a:lnTo>
                <a:cubicBezTo>
                  <a:pt x="22467" y="6192"/>
                  <a:pt x="22703" y="5853"/>
                  <a:pt x="22703" y="5429"/>
                </a:cubicBezTo>
                <a:cubicBezTo>
                  <a:pt x="22703" y="5004"/>
                  <a:pt x="22467" y="4665"/>
                  <a:pt x="22112" y="4496"/>
                </a:cubicBezTo>
                <a:lnTo>
                  <a:pt x="12573" y="254"/>
                </a:lnTo>
                <a:cubicBezTo>
                  <a:pt x="12179" y="85"/>
                  <a:pt x="11785" y="0"/>
                  <a:pt x="11352" y="0"/>
                </a:cubicBezTo>
                <a:cubicBezTo>
                  <a:pt x="10918" y="0"/>
                  <a:pt x="10524" y="85"/>
                  <a:pt x="10130" y="254"/>
                </a:cubicBezTo>
                <a:lnTo>
                  <a:pt x="591" y="4496"/>
                </a:lnTo>
                <a:cubicBezTo>
                  <a:pt x="236" y="4665"/>
                  <a:pt x="0" y="5004"/>
                  <a:pt x="0" y="5429"/>
                </a:cubicBezTo>
                <a:lnTo>
                  <a:pt x="0" y="17982"/>
                </a:lnTo>
                <a:cubicBezTo>
                  <a:pt x="0" y="18533"/>
                  <a:pt x="434" y="19000"/>
                  <a:pt x="946" y="19000"/>
                </a:cubicBezTo>
                <a:cubicBezTo>
                  <a:pt x="1458" y="19000"/>
                  <a:pt x="1892" y="18533"/>
                  <a:pt x="1892" y="17982"/>
                </a:cubicBezTo>
                <a:lnTo>
                  <a:pt x="1892" y="6955"/>
                </a:lnTo>
                <a:close/>
                <a:moveTo>
                  <a:pt x="3784" y="10009"/>
                </a:moveTo>
                <a:lnTo>
                  <a:pt x="3784" y="14929"/>
                </a:lnTo>
                <a:cubicBezTo>
                  <a:pt x="3784" y="17176"/>
                  <a:pt x="7174" y="19000"/>
                  <a:pt x="11352" y="19000"/>
                </a:cubicBezTo>
                <a:cubicBezTo>
                  <a:pt x="15530" y="19000"/>
                  <a:pt x="18919" y="17176"/>
                  <a:pt x="18919" y="14929"/>
                </a:cubicBezTo>
                <a:lnTo>
                  <a:pt x="18919" y="9967"/>
                </a:lnTo>
                <a:lnTo>
                  <a:pt x="13283" y="12469"/>
                </a:lnTo>
                <a:cubicBezTo>
                  <a:pt x="12692" y="12766"/>
                  <a:pt x="12022" y="12893"/>
                  <a:pt x="11352" y="12893"/>
                </a:cubicBezTo>
                <a:cubicBezTo>
                  <a:pt x="10682" y="12893"/>
                  <a:pt x="10051" y="12766"/>
                  <a:pt x="9420" y="12469"/>
                </a:cubicBezTo>
                <a:lnTo>
                  <a:pt x="3784" y="9967"/>
                </a:lnTo>
                <a:close/>
                <a:moveTo>
                  <a:pt x="3784" y="10009"/>
                </a:moveTo>
                <a:close/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Text 49"/>
          <p:cNvSpPr txBox="1"/>
          <p:nvPr/>
        </p:nvSpPr>
        <p:spPr>
          <a:xfrm>
            <a:off x="15673090" y="5666063"/>
            <a:ext cx="1052810" cy="2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b="1">
                <a:solidFill>
                  <a:srgbClr val="34D399"/>
                </a:solidFill>
                <a:latin typeface="Inter"/>
                <a:ea typeface="Inter"/>
                <a:cs typeface="Inter"/>
              </a:rPr>
              <a:t>Education</a:t>
            </a:r>
          </a:p>
        </p:txBody>
      </p:sp>
      <p:sp>
        <p:nvSpPr>
          <p:cNvPr id="50" name="Line 50"/>
          <p:cNvSpPr/>
          <p:nvPr/>
        </p:nvSpPr>
        <p:spPr>
          <a:xfrm>
            <a:off x="9758363" y="6568380"/>
            <a:ext cx="7153275" cy="9525"/>
          </a:xfrm>
          <a:custGeom>
            <a:avLst/>
            <a:gdLst/>
            <a:ahLst/>
            <a:cxnLst/>
            <a:rect l="0" t="0" r="751000" b="1000"/>
            <a:pathLst>
              <a:path w="751000" h="1000">
                <a:moveTo>
                  <a:pt x="500" y="500"/>
                </a:moveTo>
                <a:lnTo>
                  <a:pt x="750500" y="500"/>
                </a:lnTo>
              </a:path>
            </a:pathLst>
          </a:custGeom>
          <a:noFill/>
          <a:ln w="9525" cap="flat">
            <a:solidFill>
              <a:srgbClr val="2B3A5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Text 51"/>
          <p:cNvSpPr txBox="1"/>
          <p:nvPr/>
        </p:nvSpPr>
        <p:spPr>
          <a:xfrm>
            <a:off x="9763125" y="7147255"/>
            <a:ext cx="859334" cy="297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Caution</a:t>
            </a:r>
          </a:p>
        </p:txBody>
      </p:sp>
      <p:sp>
        <p:nvSpPr>
          <p:cNvPr id="52" name="Shape 52"/>
          <p:cNvSpPr/>
          <p:nvPr/>
        </p:nvSpPr>
        <p:spPr>
          <a:xfrm>
            <a:off x="14935200" y="7096125"/>
            <a:ext cx="1971675" cy="438150"/>
          </a:xfrm>
          <a:custGeom>
            <a:avLst/>
            <a:gdLst/>
            <a:ahLst/>
            <a:cxnLst/>
            <a:rect l="0" t="0" r="207000" b="46000"/>
            <a:pathLst>
              <a:path w="207000" h="46000">
                <a:moveTo>
                  <a:pt x="23000" y="0"/>
                </a:moveTo>
                <a:lnTo>
                  <a:pt x="184000" y="0"/>
                </a:lnTo>
                <a:cubicBezTo>
                  <a:pt x="196700" y="0"/>
                  <a:pt x="207000" y="10300"/>
                  <a:pt x="207000" y="23000"/>
                </a:cubicBezTo>
                <a:lnTo>
                  <a:pt x="207000" y="23000"/>
                </a:lnTo>
                <a:cubicBezTo>
                  <a:pt x="207000" y="35700"/>
                  <a:pt x="196700" y="46000"/>
                  <a:pt x="184000" y="46000"/>
                </a:cubicBezTo>
                <a:lnTo>
                  <a:pt x="23000" y="46000"/>
                </a:lnTo>
                <a:cubicBezTo>
                  <a:pt x="10300" y="46000"/>
                  <a:pt x="0" y="35700"/>
                  <a:pt x="0" y="23000"/>
                </a:cubicBezTo>
                <a:lnTo>
                  <a:pt x="0" y="23000"/>
                </a:lnTo>
                <a:cubicBezTo>
                  <a:pt x="0" y="10300"/>
                  <a:pt x="10300" y="0"/>
                  <a:pt x="23000" y="0"/>
                </a:cubicBezTo>
                <a:close/>
              </a:path>
            </a:pathLst>
          </a:custGeom>
          <a:solidFill>
            <a:srgbClr val="10B981">
              <a:alpha val="16078"/>
            </a:srgbClr>
          </a:solidFill>
          <a:ln w="9525" cap="flat" algn="in">
            <a:solidFill>
              <a:srgbClr val="34D39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Shape 53"/>
          <p:cNvSpPr/>
          <p:nvPr/>
        </p:nvSpPr>
        <p:spPr>
          <a:xfrm>
            <a:off x="15153084" y="7221141"/>
            <a:ext cx="169069" cy="180975"/>
          </a:xfrm>
          <a:custGeom>
            <a:avLst/>
            <a:gdLst/>
            <a:ahLst/>
            <a:cxnLst/>
            <a:rect l="0" t="0" r="17750" b="19000"/>
            <a:pathLst>
              <a:path w="17750" h="19000">
                <a:moveTo>
                  <a:pt x="17239" y="269"/>
                </a:moveTo>
                <a:cubicBezTo>
                  <a:pt x="17794" y="771"/>
                  <a:pt x="17913" y="1685"/>
                  <a:pt x="17517" y="2324"/>
                </a:cubicBezTo>
                <a:lnTo>
                  <a:pt x="7371" y="18399"/>
                </a:lnTo>
                <a:cubicBezTo>
                  <a:pt x="7133" y="18719"/>
                  <a:pt x="6816" y="18947"/>
                  <a:pt x="6460" y="18993"/>
                </a:cubicBezTo>
                <a:cubicBezTo>
                  <a:pt x="6063" y="19039"/>
                  <a:pt x="5707" y="18856"/>
                  <a:pt x="5429" y="18582"/>
                </a:cubicBezTo>
                <a:lnTo>
                  <a:pt x="357" y="12736"/>
                </a:lnTo>
                <a:cubicBezTo>
                  <a:pt x="-119" y="12143"/>
                  <a:pt x="-119" y="11229"/>
                  <a:pt x="357" y="10636"/>
                </a:cubicBezTo>
                <a:cubicBezTo>
                  <a:pt x="872" y="10088"/>
                  <a:pt x="1664" y="10088"/>
                  <a:pt x="2180" y="10636"/>
                </a:cubicBezTo>
                <a:lnTo>
                  <a:pt x="6182" y="15294"/>
                </a:lnTo>
                <a:lnTo>
                  <a:pt x="15456" y="589"/>
                </a:lnTo>
                <a:cubicBezTo>
                  <a:pt x="15892" y="-51"/>
                  <a:pt x="16684" y="-188"/>
                  <a:pt x="17239" y="269"/>
                </a:cubicBezTo>
                <a:close/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ext 54"/>
          <p:cNvSpPr txBox="1"/>
          <p:nvPr/>
        </p:nvSpPr>
        <p:spPr>
          <a:xfrm>
            <a:off x="15450741" y="7150773"/>
            <a:ext cx="1275159" cy="2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b="1">
                <a:solidFill>
                  <a:srgbClr val="34D399"/>
                </a:solidFill>
                <a:latin typeface="Inter"/>
                <a:ea typeface="Inter"/>
                <a:cs typeface="Inter"/>
              </a:rPr>
              <a:t>Low caution</a:t>
            </a:r>
          </a:p>
        </p:txBody>
      </p:sp>
      <p:sp>
        <p:nvSpPr>
          <p:cNvPr id="55" name="Line 55"/>
          <p:cNvSpPr/>
          <p:nvPr/>
        </p:nvSpPr>
        <p:spPr>
          <a:xfrm>
            <a:off x="9758363" y="8053090"/>
            <a:ext cx="7153275" cy="9525"/>
          </a:xfrm>
          <a:custGeom>
            <a:avLst/>
            <a:gdLst/>
            <a:ahLst/>
            <a:cxnLst/>
            <a:rect l="0" t="0" r="751000" b="1000"/>
            <a:pathLst>
              <a:path w="751000" h="1000">
                <a:moveTo>
                  <a:pt x="500" y="500"/>
                </a:moveTo>
                <a:lnTo>
                  <a:pt x="750500" y="500"/>
                </a:lnTo>
              </a:path>
            </a:pathLst>
          </a:custGeom>
          <a:noFill/>
          <a:ln w="9525" cap="flat">
            <a:solidFill>
              <a:srgbClr val="2B3A5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Text 56"/>
          <p:cNvSpPr txBox="1"/>
          <p:nvPr/>
        </p:nvSpPr>
        <p:spPr>
          <a:xfrm>
            <a:off x="9763125" y="8669022"/>
            <a:ext cx="594122" cy="297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Flags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14945767" y="8669022"/>
            <a:ext cx="1328589" cy="297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34D399"/>
                </a:solidFill>
                <a:latin typeface="Inter"/>
                <a:ea typeface="Inter"/>
                <a:cs typeface="Inter"/>
              </a:rPr>
              <a:t>None raised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16541055" y="8508200"/>
            <a:ext cx="365820" cy="6704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5280"/>
              </a:lnSpc>
            </a:pPr>
            <a:r>
              <a:rPr sz="4800" b="1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0" t="0" r="1920000" b="1080000"/>
            <a:pathLst>
              <a:path w="1920000" h="1080000">
                <a:moveTo>
                  <a:pt x="0" y="0"/>
                </a:moveTo>
                <a:lnTo>
                  <a:pt x="1920000" y="0"/>
                </a:lnTo>
                <a:lnTo>
                  <a:pt x="1920000" y="1080000"/>
                </a:lnTo>
                <a:lnTo>
                  <a:pt x="0" y="1080000"/>
                </a:lnTo>
                <a:close/>
              </a:path>
            </a:pathLst>
          </a:custGeom>
          <a:gradFill rotWithShape="1">
            <a:gsLst>
              <a:gs pos="0">
                <a:srgbClr val="94A3B8">
                  <a:alpha val="5882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914400" y="884021"/>
            <a:ext cx="3631406" cy="293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spc="198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04 — ML CORE · TEST N=38</a:t>
            </a:r>
          </a:p>
        </p:txBody>
      </p:sp>
      <p:sp>
        <p:nvSpPr>
          <p:cNvPr id="4" name="Shape 4"/>
          <p:cNvSpPr/>
          <p:nvPr/>
        </p:nvSpPr>
        <p:spPr>
          <a:xfrm>
            <a:off x="4733925" y="838200"/>
            <a:ext cx="1800225" cy="447675"/>
          </a:xfrm>
          <a:custGeom>
            <a:avLst/>
            <a:gdLst/>
            <a:ahLst/>
            <a:cxnLst/>
            <a:rect l="0" t="0" r="189000" b="47000"/>
            <a:pathLst>
              <a:path w="189000" h="47000">
                <a:moveTo>
                  <a:pt x="23500" y="0"/>
                </a:moveTo>
                <a:lnTo>
                  <a:pt x="165500" y="0"/>
                </a:lnTo>
                <a:cubicBezTo>
                  <a:pt x="178480" y="0"/>
                  <a:pt x="189000" y="10520"/>
                  <a:pt x="189000" y="23500"/>
                </a:cubicBezTo>
                <a:lnTo>
                  <a:pt x="189000" y="23500"/>
                </a:lnTo>
                <a:cubicBezTo>
                  <a:pt x="189000" y="36480"/>
                  <a:pt x="178480" y="47000"/>
                  <a:pt x="165500" y="47000"/>
                </a:cubicBezTo>
                <a:lnTo>
                  <a:pt x="23500" y="47000"/>
                </a:lnTo>
                <a:cubicBezTo>
                  <a:pt x="10520" y="47000"/>
                  <a:pt x="0" y="36480"/>
                  <a:pt x="0" y="23500"/>
                </a:cubicBezTo>
                <a:lnTo>
                  <a:pt x="0" y="23500"/>
                </a:lnTo>
                <a:cubicBezTo>
                  <a:pt x="0" y="10520"/>
                  <a:pt x="10520" y="0"/>
                  <a:pt x="23500" y="0"/>
                </a:cubicBezTo>
                <a:close/>
              </a:path>
            </a:pathLst>
          </a:custGeom>
          <a:solidFill>
            <a:srgbClr val="94A3B8">
              <a:alpha val="10196"/>
            </a:srgbClr>
          </a:solidFill>
          <a:ln w="9525" cap="flat" algn="in">
            <a:solidFill>
              <a:srgbClr val="94A3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Shape 5"/>
          <p:cNvSpPr/>
          <p:nvPr/>
        </p:nvSpPr>
        <p:spPr>
          <a:xfrm>
            <a:off x="4962376" y="965746"/>
            <a:ext cx="145554" cy="180975"/>
          </a:xfrm>
          <a:custGeom>
            <a:avLst/>
            <a:gdLst/>
            <a:ahLst/>
            <a:cxnLst/>
            <a:rect l="0" t="0" r="15281" b="19000"/>
            <a:pathLst>
              <a:path w="15281" h="19000">
                <a:moveTo>
                  <a:pt x="1273" y="0"/>
                </a:moveTo>
                <a:cubicBezTo>
                  <a:pt x="557" y="0"/>
                  <a:pt x="0" y="520"/>
                  <a:pt x="0" y="1188"/>
                </a:cubicBezTo>
                <a:cubicBezTo>
                  <a:pt x="0" y="1855"/>
                  <a:pt x="557" y="2375"/>
                  <a:pt x="1273" y="2375"/>
                </a:cubicBezTo>
                <a:lnTo>
                  <a:pt x="1273" y="2783"/>
                </a:lnTo>
                <a:cubicBezTo>
                  <a:pt x="1273" y="4342"/>
                  <a:pt x="1950" y="5863"/>
                  <a:pt x="3144" y="6977"/>
                </a:cubicBezTo>
                <a:lnTo>
                  <a:pt x="5850" y="9500"/>
                </a:lnTo>
                <a:lnTo>
                  <a:pt x="3144" y="12023"/>
                </a:lnTo>
                <a:cubicBezTo>
                  <a:pt x="1950" y="13137"/>
                  <a:pt x="1273" y="14658"/>
                  <a:pt x="1273" y="16217"/>
                </a:cubicBezTo>
                <a:lnTo>
                  <a:pt x="1273" y="16625"/>
                </a:lnTo>
                <a:cubicBezTo>
                  <a:pt x="557" y="16625"/>
                  <a:pt x="0" y="17145"/>
                  <a:pt x="0" y="17813"/>
                </a:cubicBezTo>
                <a:cubicBezTo>
                  <a:pt x="0" y="18480"/>
                  <a:pt x="557" y="19000"/>
                  <a:pt x="1273" y="19000"/>
                </a:cubicBezTo>
                <a:lnTo>
                  <a:pt x="14008" y="19000"/>
                </a:lnTo>
                <a:cubicBezTo>
                  <a:pt x="14724" y="19000"/>
                  <a:pt x="15281" y="18480"/>
                  <a:pt x="15281" y="17813"/>
                </a:cubicBezTo>
                <a:cubicBezTo>
                  <a:pt x="15281" y="17145"/>
                  <a:pt x="14724" y="16625"/>
                  <a:pt x="14008" y="16625"/>
                </a:cubicBezTo>
                <a:lnTo>
                  <a:pt x="14008" y="16217"/>
                </a:lnTo>
                <a:cubicBezTo>
                  <a:pt x="14008" y="14658"/>
                  <a:pt x="13331" y="13137"/>
                  <a:pt x="12137" y="12023"/>
                </a:cubicBezTo>
                <a:lnTo>
                  <a:pt x="9431" y="9500"/>
                </a:lnTo>
                <a:lnTo>
                  <a:pt x="12137" y="6977"/>
                </a:lnTo>
                <a:cubicBezTo>
                  <a:pt x="13331" y="5863"/>
                  <a:pt x="14008" y="4342"/>
                  <a:pt x="14008" y="2783"/>
                </a:cubicBezTo>
                <a:lnTo>
                  <a:pt x="14008" y="2375"/>
                </a:lnTo>
                <a:cubicBezTo>
                  <a:pt x="14724" y="2375"/>
                  <a:pt x="15281" y="1855"/>
                  <a:pt x="15281" y="1188"/>
                </a:cubicBezTo>
                <a:cubicBezTo>
                  <a:pt x="15281" y="520"/>
                  <a:pt x="14724" y="0"/>
                  <a:pt x="14008" y="0"/>
                </a:cubicBezTo>
                <a:lnTo>
                  <a:pt x="1273" y="0"/>
                </a:lnTo>
                <a:close/>
                <a:moveTo>
                  <a:pt x="3820" y="2783"/>
                </a:moveTo>
                <a:lnTo>
                  <a:pt x="3820" y="2375"/>
                </a:lnTo>
                <a:lnTo>
                  <a:pt x="11461" y="2375"/>
                </a:lnTo>
                <a:lnTo>
                  <a:pt x="11461" y="2783"/>
                </a:lnTo>
                <a:cubicBezTo>
                  <a:pt x="11461" y="3488"/>
                  <a:pt x="11222" y="4156"/>
                  <a:pt x="10824" y="4750"/>
                </a:cubicBezTo>
                <a:lnTo>
                  <a:pt x="4457" y="4750"/>
                </a:lnTo>
                <a:cubicBezTo>
                  <a:pt x="4059" y="4156"/>
                  <a:pt x="3820" y="3488"/>
                  <a:pt x="3820" y="2783"/>
                </a:cubicBezTo>
                <a:close/>
                <a:moveTo>
                  <a:pt x="4457" y="14250"/>
                </a:moveTo>
                <a:lnTo>
                  <a:pt x="4935" y="13693"/>
                </a:lnTo>
                <a:lnTo>
                  <a:pt x="7641" y="11170"/>
                </a:lnTo>
                <a:lnTo>
                  <a:pt x="10347" y="13693"/>
                </a:lnTo>
                <a:cubicBezTo>
                  <a:pt x="10546" y="13879"/>
                  <a:pt x="10705" y="14064"/>
                  <a:pt x="10824" y="14250"/>
                </a:cubicBezTo>
                <a:lnTo>
                  <a:pt x="4457" y="1425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 6"/>
          <p:cNvSpPr txBox="1"/>
          <p:nvPr/>
        </p:nvSpPr>
        <p:spPr>
          <a:xfrm>
            <a:off x="5248275" y="895378"/>
            <a:ext cx="1102072" cy="2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Pre-review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14400" y="1388604"/>
            <a:ext cx="8080028" cy="78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6210"/>
              </a:lnSpc>
            </a:pPr>
            <a:r>
              <a:rPr sz="5400" b="1" spc="-108">
                <a:solidFill>
                  <a:srgbClr val="F1F5F9"/>
                </a:solidFill>
                <a:latin typeface="Inter"/>
                <a:ea typeface="Inter"/>
                <a:cs typeface="Inter"/>
              </a:rPr>
              <a:t>Baseline beaten, honestly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2562225"/>
            <a:ext cx="9477375" cy="5305425"/>
          </a:xfrm>
          <a:custGeom>
            <a:avLst/>
            <a:gdLst/>
            <a:ahLst/>
            <a:cxnLst/>
            <a:rect l="0" t="0" r="995000" b="557000"/>
            <a:pathLst>
              <a:path w="995000" h="557000">
                <a:moveTo>
                  <a:pt x="14000" y="0"/>
                </a:moveTo>
                <a:lnTo>
                  <a:pt x="981000" y="0"/>
                </a:lnTo>
                <a:cubicBezTo>
                  <a:pt x="988730" y="0"/>
                  <a:pt x="995000" y="6270"/>
                  <a:pt x="995000" y="14000"/>
                </a:cubicBezTo>
                <a:lnTo>
                  <a:pt x="995000" y="543000"/>
                </a:lnTo>
                <a:cubicBezTo>
                  <a:pt x="995000" y="550730"/>
                  <a:pt x="988730" y="557000"/>
                  <a:pt x="981000" y="557000"/>
                </a:cubicBezTo>
                <a:lnTo>
                  <a:pt x="14000" y="557000"/>
                </a:lnTo>
                <a:cubicBezTo>
                  <a:pt x="6270" y="557000"/>
                  <a:pt x="0" y="550730"/>
                  <a:pt x="0" y="543000"/>
                </a:cubicBezTo>
                <a:lnTo>
                  <a:pt x="0" y="14000"/>
                </a:lnTo>
                <a:cubicBezTo>
                  <a:pt x="0" y="6270"/>
                  <a:pt x="6270" y="0"/>
                  <a:pt x="14000" y="0"/>
                </a:cubicBezTo>
                <a:close/>
              </a:path>
            </a:pathLst>
          </a:custGeom>
          <a:solidFill>
            <a:srgbClr val="1E293B"/>
          </a:solidFill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304925" y="2936758"/>
            <a:ext cx="3828008" cy="2970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Accuracy: baseline vs LoRA MuRIL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936706" y="2958376"/>
            <a:ext cx="2064544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>
                <a:solidFill>
                  <a:srgbClr val="A3B1C6"/>
                </a:solidFill>
                <a:latin typeface="JetBrains Mono"/>
                <a:ea typeface="JetBrains Mono"/>
                <a:cs typeface="JetBrains Mono"/>
              </a:rPr>
              <a:t>n=38 · scale 0–1.0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304925" y="3576719"/>
            <a:ext cx="1720453" cy="5941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A3B1C6"/>
                </a:solidFill>
                <a:latin typeface="Inter"/>
                <a:ea typeface="Inter"/>
                <a:cs typeface="Inter"/>
              </a:rPr>
              <a:t>Baseline</a:t>
            </a:r>
          </a:p>
          <a:p>
            <a:pPr>
              <a:lnSpc>
                <a:spcPts val="1950"/>
              </a:lnSpc>
            </a:pPr>
            <a:r>
              <a:rPr sz="1500">
                <a:solidFill>
                  <a:srgbClr val="A3B1C6"/>
                </a:solidFill>
                <a:latin typeface="JetBrains Mono"/>
                <a:ea typeface="JetBrains Mono"/>
                <a:cs typeface="JetBrains Mono"/>
              </a:rPr>
              <a:t>TF-IDF + LogReg</a:t>
            </a:r>
          </a:p>
        </p:txBody>
      </p:sp>
      <p:sp>
        <p:nvSpPr>
          <p:cNvPr id="12" name="Shape 12"/>
          <p:cNvSpPr/>
          <p:nvPr/>
        </p:nvSpPr>
        <p:spPr>
          <a:xfrm>
            <a:off x="3819525" y="3667125"/>
            <a:ext cx="4914900" cy="457200"/>
          </a:xfrm>
          <a:custGeom>
            <a:avLst/>
            <a:gdLst/>
            <a:ahLst/>
            <a:cxnLst/>
            <a:rect l="0" t="0" r="516000" b="48000"/>
            <a:pathLst>
              <a:path w="516000" h="48000">
                <a:moveTo>
                  <a:pt x="6000" y="0"/>
                </a:moveTo>
                <a:lnTo>
                  <a:pt x="510000" y="0"/>
                </a:lnTo>
                <a:cubicBezTo>
                  <a:pt x="513310" y="0"/>
                  <a:pt x="516000" y="2690"/>
                  <a:pt x="516000" y="6000"/>
                </a:cubicBezTo>
                <a:lnTo>
                  <a:pt x="516000" y="42000"/>
                </a:lnTo>
                <a:cubicBezTo>
                  <a:pt x="516000" y="45310"/>
                  <a:pt x="513310" y="48000"/>
                  <a:pt x="510000" y="48000"/>
                </a:cubicBezTo>
                <a:lnTo>
                  <a:pt x="6000" y="48000"/>
                </a:lnTo>
                <a:cubicBezTo>
                  <a:pt x="2690" y="48000"/>
                  <a:pt x="0" y="45310"/>
                  <a:pt x="0" y="42000"/>
                </a:cubicBezTo>
                <a:lnTo>
                  <a:pt x="0" y="6000"/>
                </a:lnTo>
                <a:cubicBezTo>
                  <a:pt x="0" y="2690"/>
                  <a:pt x="2690" y="0"/>
                  <a:pt x="600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Shape 13"/>
          <p:cNvSpPr/>
          <p:nvPr/>
        </p:nvSpPr>
        <p:spPr>
          <a:xfrm>
            <a:off x="3819525" y="3667125"/>
            <a:ext cx="3886200" cy="457200"/>
          </a:xfrm>
          <a:custGeom>
            <a:avLst/>
            <a:gdLst/>
            <a:ahLst/>
            <a:cxnLst/>
            <a:rect l="0" t="0" r="408000" b="48000"/>
            <a:pathLst>
              <a:path w="408000" h="48000">
                <a:moveTo>
                  <a:pt x="6000" y="0"/>
                </a:moveTo>
                <a:lnTo>
                  <a:pt x="402000" y="0"/>
                </a:lnTo>
                <a:cubicBezTo>
                  <a:pt x="405310" y="0"/>
                  <a:pt x="408000" y="2690"/>
                  <a:pt x="408000" y="6000"/>
                </a:cubicBezTo>
                <a:lnTo>
                  <a:pt x="408000" y="42000"/>
                </a:lnTo>
                <a:cubicBezTo>
                  <a:pt x="408000" y="45310"/>
                  <a:pt x="405310" y="48000"/>
                  <a:pt x="402000" y="48000"/>
                </a:cubicBezTo>
                <a:lnTo>
                  <a:pt x="6000" y="48000"/>
                </a:lnTo>
                <a:cubicBezTo>
                  <a:pt x="2690" y="48000"/>
                  <a:pt x="0" y="45310"/>
                  <a:pt x="0" y="42000"/>
                </a:cubicBezTo>
                <a:lnTo>
                  <a:pt x="0" y="6000"/>
                </a:lnTo>
                <a:cubicBezTo>
                  <a:pt x="0" y="2690"/>
                  <a:pt x="2690" y="0"/>
                  <a:pt x="6000" y="0"/>
                </a:cubicBezTo>
                <a:close/>
              </a:path>
            </a:pathLst>
          </a:custGeom>
          <a:solidFill>
            <a:srgbClr val="A3B1C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 14"/>
          <p:cNvSpPr txBox="1"/>
          <p:nvPr/>
        </p:nvSpPr>
        <p:spPr>
          <a:xfrm>
            <a:off x="8963025" y="3656892"/>
            <a:ext cx="825847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375"/>
              </a:lnSpc>
            </a:pPr>
            <a:r>
              <a:rPr sz="2700" b="1">
                <a:solidFill>
                  <a:srgbClr val="A3B1C6"/>
                </a:solidFill>
                <a:latin typeface="JetBrains Mono"/>
                <a:ea typeface="JetBrains Mono"/>
                <a:cs typeface="JetBrains Mono"/>
              </a:rPr>
              <a:t>0.79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304925" y="4399441"/>
            <a:ext cx="1605707" cy="5941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40"/>
              </a:lnSpc>
            </a:pPr>
            <a:r>
              <a:rPr sz="180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LoRA MuRIL</a:t>
            </a:r>
          </a:p>
          <a:p>
            <a:pPr>
              <a:lnSpc>
                <a:spcPts val="1950"/>
              </a:lnSpc>
            </a:pPr>
            <a:r>
              <a:rPr sz="1500">
                <a:solidFill>
                  <a:srgbClr val="A3B1C6"/>
                </a:solidFill>
                <a:latin typeface="JetBrains Mono"/>
                <a:ea typeface="JetBrains Mono"/>
                <a:cs typeface="JetBrains Mono"/>
              </a:rPr>
              <a:t>proposed model</a:t>
            </a:r>
          </a:p>
        </p:txBody>
      </p:sp>
      <p:sp>
        <p:nvSpPr>
          <p:cNvPr id="16" name="Shape 16"/>
          <p:cNvSpPr/>
          <p:nvPr/>
        </p:nvSpPr>
        <p:spPr>
          <a:xfrm>
            <a:off x="3819525" y="4486275"/>
            <a:ext cx="4914900" cy="457200"/>
          </a:xfrm>
          <a:custGeom>
            <a:avLst/>
            <a:gdLst/>
            <a:ahLst/>
            <a:cxnLst/>
            <a:rect l="0" t="0" r="516000" b="48000"/>
            <a:pathLst>
              <a:path w="516000" h="48000">
                <a:moveTo>
                  <a:pt x="6000" y="0"/>
                </a:moveTo>
                <a:lnTo>
                  <a:pt x="510000" y="0"/>
                </a:lnTo>
                <a:cubicBezTo>
                  <a:pt x="513310" y="0"/>
                  <a:pt x="516000" y="2690"/>
                  <a:pt x="516000" y="6000"/>
                </a:cubicBezTo>
                <a:lnTo>
                  <a:pt x="516000" y="42000"/>
                </a:lnTo>
                <a:cubicBezTo>
                  <a:pt x="516000" y="45310"/>
                  <a:pt x="513310" y="48000"/>
                  <a:pt x="510000" y="48000"/>
                </a:cubicBezTo>
                <a:lnTo>
                  <a:pt x="6000" y="48000"/>
                </a:lnTo>
                <a:cubicBezTo>
                  <a:pt x="2690" y="48000"/>
                  <a:pt x="0" y="45310"/>
                  <a:pt x="0" y="42000"/>
                </a:cubicBezTo>
                <a:lnTo>
                  <a:pt x="0" y="6000"/>
                </a:lnTo>
                <a:cubicBezTo>
                  <a:pt x="0" y="2690"/>
                  <a:pt x="2690" y="0"/>
                  <a:pt x="6000" y="0"/>
                </a:cubicBezTo>
                <a:close/>
              </a:path>
            </a:pathLst>
          </a:custGeom>
          <a:solidFill>
            <a:srgbClr val="3341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3819525" y="4486275"/>
            <a:ext cx="4524375" cy="457200"/>
          </a:xfrm>
          <a:custGeom>
            <a:avLst/>
            <a:gdLst/>
            <a:ahLst/>
            <a:cxnLst/>
            <a:rect l="0" t="0" r="475000" b="48000"/>
            <a:pathLst>
              <a:path w="475000" h="48000">
                <a:moveTo>
                  <a:pt x="6000" y="0"/>
                </a:moveTo>
                <a:lnTo>
                  <a:pt x="469000" y="0"/>
                </a:lnTo>
                <a:cubicBezTo>
                  <a:pt x="472310" y="0"/>
                  <a:pt x="475000" y="2690"/>
                  <a:pt x="475000" y="6000"/>
                </a:cubicBezTo>
                <a:lnTo>
                  <a:pt x="475000" y="42000"/>
                </a:lnTo>
                <a:cubicBezTo>
                  <a:pt x="475000" y="45310"/>
                  <a:pt x="472310" y="48000"/>
                  <a:pt x="469000" y="48000"/>
                </a:cubicBezTo>
                <a:lnTo>
                  <a:pt x="6000" y="48000"/>
                </a:lnTo>
                <a:cubicBezTo>
                  <a:pt x="2690" y="48000"/>
                  <a:pt x="0" y="45310"/>
                  <a:pt x="0" y="42000"/>
                </a:cubicBezTo>
                <a:lnTo>
                  <a:pt x="0" y="6000"/>
                </a:lnTo>
                <a:cubicBezTo>
                  <a:pt x="0" y="2690"/>
                  <a:pt x="2690" y="0"/>
                  <a:pt x="6000" y="0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 18"/>
          <p:cNvSpPr txBox="1"/>
          <p:nvPr/>
        </p:nvSpPr>
        <p:spPr>
          <a:xfrm>
            <a:off x="8963025" y="4479613"/>
            <a:ext cx="825847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375"/>
              </a:lnSpc>
            </a:pPr>
            <a:r>
              <a:rPr sz="2700" b="1">
                <a:solidFill>
                  <a:srgbClr val="22D3EE"/>
                </a:solidFill>
                <a:latin typeface="JetBrains Mono"/>
                <a:ea typeface="JetBrains Mono"/>
                <a:cs typeface="JetBrains Mono"/>
              </a:rPr>
              <a:t>0.92</a:t>
            </a:r>
          </a:p>
        </p:txBody>
      </p:sp>
      <p:sp>
        <p:nvSpPr>
          <p:cNvPr id="19" name="Shape 19"/>
          <p:cNvSpPr/>
          <p:nvPr/>
        </p:nvSpPr>
        <p:spPr>
          <a:xfrm>
            <a:off x="1304925" y="5353050"/>
            <a:ext cx="2695575" cy="2066925"/>
          </a:xfrm>
          <a:custGeom>
            <a:avLst/>
            <a:gdLst/>
            <a:ahLst/>
            <a:cxnLst/>
            <a:rect l="0" t="0" r="283000" b="217000"/>
            <a:pathLst>
              <a:path w="283000" h="217000">
                <a:moveTo>
                  <a:pt x="0" y="0"/>
                </a:moveTo>
                <a:lnTo>
                  <a:pt x="283000" y="0"/>
                </a:lnTo>
                <a:lnTo>
                  <a:pt x="283000" y="217000"/>
                </a:lnTo>
                <a:lnTo>
                  <a:pt x="0" y="217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Shape 20"/>
          <p:cNvSpPr/>
          <p:nvPr/>
        </p:nvSpPr>
        <p:spPr>
          <a:xfrm>
            <a:off x="1304925" y="5353050"/>
            <a:ext cx="2695575" cy="2066925"/>
          </a:xfrm>
          <a:custGeom>
            <a:avLst/>
            <a:gdLst/>
            <a:ahLst/>
            <a:cxnLst/>
            <a:rect l="0" t="0" r="283000" b="217000"/>
            <a:pathLst>
              <a:path w="283000" h="217000">
                <a:moveTo>
                  <a:pt x="0" y="0"/>
                </a:moveTo>
                <a:lnTo>
                  <a:pt x="283000" y="0"/>
                </a:lnTo>
              </a:path>
            </a:pathLst>
          </a:custGeom>
          <a:noFill/>
          <a:ln w="28575" cap="flat">
            <a:solidFill>
              <a:srgbClr val="06B6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 21"/>
          <p:cNvSpPr txBox="1"/>
          <p:nvPr/>
        </p:nvSpPr>
        <p:spPr>
          <a:xfrm>
            <a:off x="1304925" y="5659070"/>
            <a:ext cx="174367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6000"/>
              </a:lnSpc>
            </a:pPr>
            <a:r>
              <a:rPr sz="6000" b="1" spc="-180">
                <a:solidFill>
                  <a:srgbClr val="22D3EE"/>
                </a:solidFill>
                <a:latin typeface="JetBrains Mono"/>
                <a:ea typeface="JetBrains Mono"/>
                <a:cs typeface="JetBrains Mono"/>
              </a:rPr>
              <a:t>0.92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304925" y="6464223"/>
            <a:ext cx="2401193" cy="3085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30"/>
              </a:lnSpc>
            </a:pPr>
            <a:r>
              <a:rPr sz="1800">
                <a:solidFill>
                  <a:srgbClr val="A3B1C6"/>
                </a:solidFill>
                <a:latin typeface="Inter"/>
                <a:ea typeface="Inter"/>
                <a:cs typeface="Inter"/>
              </a:rPr>
              <a:t>Macro-F1, LoRA MuRIL</a:t>
            </a:r>
          </a:p>
        </p:txBody>
      </p:sp>
      <p:sp>
        <p:nvSpPr>
          <p:cNvPr id="23" name="Shape 23"/>
          <p:cNvSpPr/>
          <p:nvPr/>
        </p:nvSpPr>
        <p:spPr>
          <a:xfrm>
            <a:off x="4305300" y="5353050"/>
            <a:ext cx="2695575" cy="2066925"/>
          </a:xfrm>
          <a:custGeom>
            <a:avLst/>
            <a:gdLst/>
            <a:ahLst/>
            <a:cxnLst/>
            <a:rect l="0" t="0" r="283000" b="217000"/>
            <a:pathLst>
              <a:path w="283000" h="217000">
                <a:moveTo>
                  <a:pt x="0" y="0"/>
                </a:moveTo>
                <a:lnTo>
                  <a:pt x="283000" y="0"/>
                </a:lnTo>
                <a:lnTo>
                  <a:pt x="283000" y="217000"/>
                </a:lnTo>
                <a:lnTo>
                  <a:pt x="0" y="217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05300" y="5353050"/>
            <a:ext cx="2695575" cy="2066925"/>
          </a:xfrm>
          <a:custGeom>
            <a:avLst/>
            <a:gdLst/>
            <a:ahLst/>
            <a:cxnLst/>
            <a:rect l="0" t="0" r="283000" b="217000"/>
            <a:pathLst>
              <a:path w="283000" h="217000">
                <a:moveTo>
                  <a:pt x="0" y="0"/>
                </a:moveTo>
                <a:lnTo>
                  <a:pt x="283000" y="0"/>
                </a:lnTo>
              </a:path>
            </a:pathLst>
          </a:custGeom>
          <a:noFill/>
          <a:ln w="28575" cap="flat">
            <a:solidFill>
              <a:srgbClr val="10B98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 25"/>
          <p:cNvSpPr txBox="1"/>
          <p:nvPr/>
        </p:nvSpPr>
        <p:spPr>
          <a:xfrm>
            <a:off x="4305300" y="5659070"/>
            <a:ext cx="43591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6000"/>
              </a:lnSpc>
            </a:pPr>
            <a:r>
              <a:rPr sz="6000" b="1" spc="-180">
                <a:solidFill>
                  <a:srgbClr val="34D399"/>
                </a:solidFill>
                <a:latin typeface="JetBrains Mono"/>
                <a:ea typeface="JetBrains Mono"/>
                <a:cs typeface="JetBrains Mono"/>
              </a:rPr>
              <a:t>0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4278344" y="6464223"/>
            <a:ext cx="2749487" cy="925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2430"/>
              </a:lnSpc>
            </a:pPr>
            <a:r>
              <a:rPr sz="1800">
                <a:solidFill>
                  <a:srgbClr val="A3B1C6"/>
                </a:solidFill>
                <a:latin typeface="Inter"/>
                <a:ea typeface="Inter"/>
                <a:cs typeface="Inter"/>
              </a:rPr>
              <a:t>Education posts misflagged</a:t>
            </a:r>
          </a:p>
          <a:p>
            <a:pPr>
              <a:lnSpc>
                <a:spcPts val="2430"/>
              </a:lnSpc>
            </a:pPr>
            <a:r>
              <a:rPr sz="1800">
                <a:solidFill>
                  <a:srgbClr val="A3B1C6"/>
                </a:solidFill>
                <a:latin typeface="Inter"/>
                <a:ea typeface="Inter"/>
                <a:cs typeface="Inter"/>
              </a:rPr>
              <a:t>(baseline: 1)</a:t>
            </a:r>
          </a:p>
        </p:txBody>
      </p:sp>
      <p:sp>
        <p:nvSpPr>
          <p:cNvPr id="27" name="Shape 27"/>
          <p:cNvSpPr/>
          <p:nvPr/>
        </p:nvSpPr>
        <p:spPr>
          <a:xfrm>
            <a:off x="7305675" y="5353050"/>
            <a:ext cx="2695575" cy="2066925"/>
          </a:xfrm>
          <a:custGeom>
            <a:avLst/>
            <a:gdLst/>
            <a:ahLst/>
            <a:cxnLst/>
            <a:rect l="0" t="0" r="283000" b="217000"/>
            <a:pathLst>
              <a:path w="283000" h="217000">
                <a:moveTo>
                  <a:pt x="0" y="0"/>
                </a:moveTo>
                <a:lnTo>
                  <a:pt x="283000" y="0"/>
                </a:lnTo>
                <a:lnTo>
                  <a:pt x="283000" y="217000"/>
                </a:lnTo>
                <a:lnTo>
                  <a:pt x="0" y="217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7305675" y="5353050"/>
            <a:ext cx="2695575" cy="2066925"/>
          </a:xfrm>
          <a:custGeom>
            <a:avLst/>
            <a:gdLst/>
            <a:ahLst/>
            <a:cxnLst/>
            <a:rect l="0" t="0" r="283000" b="217000"/>
            <a:pathLst>
              <a:path w="283000" h="217000">
                <a:moveTo>
                  <a:pt x="0" y="0"/>
                </a:moveTo>
                <a:lnTo>
                  <a:pt x="283000" y="0"/>
                </a:lnTo>
              </a:path>
            </a:pathLst>
          </a:custGeom>
          <a:noFill/>
          <a:ln w="28575" cap="flat">
            <a:solidFill>
              <a:srgbClr val="06B6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 29"/>
          <p:cNvSpPr txBox="1"/>
          <p:nvPr/>
        </p:nvSpPr>
        <p:spPr>
          <a:xfrm>
            <a:off x="7305675" y="5659070"/>
            <a:ext cx="217958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6000"/>
              </a:lnSpc>
            </a:pPr>
            <a:r>
              <a:rPr sz="6000" b="1" spc="-180">
                <a:solidFill>
                  <a:srgbClr val="F1F5F9"/>
                </a:solidFill>
                <a:latin typeface="JetBrains Mono"/>
                <a:ea typeface="JetBrains Mono"/>
                <a:cs typeface="JetBrains Mono"/>
              </a:rPr>
              <a:t>+0.13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7305675" y="6464223"/>
            <a:ext cx="2363391" cy="3085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430"/>
              </a:lnSpc>
            </a:pPr>
            <a:r>
              <a:rPr sz="1800">
                <a:solidFill>
                  <a:srgbClr val="A3B1C6"/>
                </a:solidFill>
                <a:latin typeface="Inter"/>
                <a:ea typeface="Inter"/>
                <a:cs typeface="Inter"/>
              </a:rPr>
              <a:t>Accuracy over baseline</a:t>
            </a:r>
          </a:p>
        </p:txBody>
      </p:sp>
      <p:sp>
        <p:nvSpPr>
          <p:cNvPr id="31" name="Shape 31"/>
          <p:cNvSpPr/>
          <p:nvPr/>
        </p:nvSpPr>
        <p:spPr>
          <a:xfrm>
            <a:off x="10696575" y="2562225"/>
            <a:ext cx="6677025" cy="1171575"/>
          </a:xfrm>
          <a:custGeom>
            <a:avLst/>
            <a:gdLst/>
            <a:ahLst/>
            <a:cxnLst/>
            <a:rect l="0" t="0" r="701000" b="123000"/>
            <a:pathLst>
              <a:path w="701000" h="123000">
                <a:moveTo>
                  <a:pt x="0" y="0"/>
                </a:moveTo>
                <a:lnTo>
                  <a:pt x="701000" y="0"/>
                </a:lnTo>
                <a:lnTo>
                  <a:pt x="701000" y="123000"/>
                </a:lnTo>
                <a:lnTo>
                  <a:pt x="0" y="123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10696575" y="2562225"/>
            <a:ext cx="6677025" cy="1171575"/>
          </a:xfrm>
          <a:custGeom>
            <a:avLst/>
            <a:gdLst/>
            <a:ahLst/>
            <a:cxnLst/>
            <a:rect l="0" t="0" r="701000" b="123000"/>
            <a:pathLst>
              <a:path w="701000" h="123000">
                <a:moveTo>
                  <a:pt x="0" y="0"/>
                </a:moveTo>
                <a:lnTo>
                  <a:pt x="701000" y="0"/>
                </a:lnTo>
              </a:path>
            </a:pathLst>
          </a:custGeom>
          <a:noFill/>
          <a:ln w="28575" cap="flat">
            <a:solidFill>
              <a:srgbClr val="06B6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 33"/>
          <p:cNvSpPr txBox="1"/>
          <p:nvPr/>
        </p:nvSpPr>
        <p:spPr>
          <a:xfrm>
            <a:off x="10696575" y="2877985"/>
            <a:ext cx="523131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7200"/>
              </a:lnSpc>
            </a:pPr>
            <a:r>
              <a:rPr sz="7200" b="1" spc="-216">
                <a:solidFill>
                  <a:srgbClr val="22D3EE"/>
                </a:solidFill>
                <a:latin typeface="JetBrains Mono"/>
                <a:ea typeface="JetBrains Mono"/>
                <a:cs typeface="JetBrains Mono"/>
              </a:rPr>
              <a:t>7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11486406" y="2929198"/>
            <a:ext cx="3049339" cy="6399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520"/>
              </a:lnSpc>
            </a:pPr>
            <a:r>
              <a:rPr sz="1800">
                <a:solidFill>
                  <a:srgbClr val="F1F5F9"/>
                </a:solidFill>
                <a:latin typeface="Inter"/>
                <a:ea typeface="Inter"/>
                <a:cs typeface="Inter"/>
              </a:rPr>
              <a:t>Rubric v1.1 flags — every flag</a:t>
            </a:r>
          </a:p>
          <a:p>
            <a:pPr>
              <a:lnSpc>
                <a:spcPts val="2520"/>
              </a:lnSpc>
            </a:pPr>
            <a:r>
              <a:rPr sz="1800">
                <a:solidFill>
                  <a:srgbClr val="F1F5F9"/>
                </a:solidFill>
                <a:latin typeface="Inter"/>
                <a:ea typeface="Inter"/>
                <a:cs typeface="Inter"/>
              </a:rPr>
              <a:t>cited to its SEBI document</a:t>
            </a:r>
          </a:p>
        </p:txBody>
      </p:sp>
      <p:sp>
        <p:nvSpPr>
          <p:cNvPr id="35" name="Shape 35"/>
          <p:cNvSpPr/>
          <p:nvPr/>
        </p:nvSpPr>
        <p:spPr>
          <a:xfrm>
            <a:off x="14819114" y="3137446"/>
            <a:ext cx="300038" cy="276225"/>
          </a:xfrm>
          <a:custGeom>
            <a:avLst/>
            <a:gdLst/>
            <a:ahLst/>
            <a:cxnLst/>
            <a:rect l="0" t="0" r="31500" b="29000"/>
            <a:pathLst>
              <a:path w="31500" h="29000">
                <a:moveTo>
                  <a:pt x="22969" y="4143"/>
                </a:moveTo>
                <a:cubicBezTo>
                  <a:pt x="22039" y="4143"/>
                  <a:pt x="21164" y="4467"/>
                  <a:pt x="20398" y="4984"/>
                </a:cubicBezTo>
                <a:cubicBezTo>
                  <a:pt x="19523" y="3949"/>
                  <a:pt x="18539" y="3042"/>
                  <a:pt x="17391" y="2395"/>
                </a:cubicBezTo>
                <a:cubicBezTo>
                  <a:pt x="18922" y="842"/>
                  <a:pt x="20891" y="0"/>
                  <a:pt x="22969" y="0"/>
                </a:cubicBezTo>
                <a:cubicBezTo>
                  <a:pt x="27672" y="0"/>
                  <a:pt x="31500" y="4531"/>
                  <a:pt x="31500" y="10163"/>
                </a:cubicBezTo>
                <a:cubicBezTo>
                  <a:pt x="31500" y="12817"/>
                  <a:pt x="30625" y="15406"/>
                  <a:pt x="28984" y="17283"/>
                </a:cubicBezTo>
                <a:lnTo>
                  <a:pt x="25102" y="21879"/>
                </a:lnTo>
                <a:cubicBezTo>
                  <a:pt x="23516" y="23821"/>
                  <a:pt x="21328" y="24857"/>
                  <a:pt x="19086" y="24857"/>
                </a:cubicBezTo>
                <a:cubicBezTo>
                  <a:pt x="14328" y="24857"/>
                  <a:pt x="10500" y="20326"/>
                  <a:pt x="10500" y="14759"/>
                </a:cubicBezTo>
                <a:lnTo>
                  <a:pt x="10500" y="14435"/>
                </a:lnTo>
                <a:cubicBezTo>
                  <a:pt x="10555" y="13270"/>
                  <a:pt x="11320" y="12364"/>
                  <a:pt x="12305" y="12429"/>
                </a:cubicBezTo>
                <a:cubicBezTo>
                  <a:pt x="13289" y="12429"/>
                  <a:pt x="14055" y="13400"/>
                  <a:pt x="14000" y="14565"/>
                </a:cubicBezTo>
                <a:lnTo>
                  <a:pt x="14000" y="14694"/>
                </a:lnTo>
                <a:cubicBezTo>
                  <a:pt x="14000" y="18060"/>
                  <a:pt x="16297" y="20714"/>
                  <a:pt x="19086" y="20714"/>
                </a:cubicBezTo>
                <a:cubicBezTo>
                  <a:pt x="20398" y="20714"/>
                  <a:pt x="21711" y="20067"/>
                  <a:pt x="22641" y="18967"/>
                </a:cubicBezTo>
                <a:lnTo>
                  <a:pt x="26523" y="14371"/>
                </a:lnTo>
                <a:cubicBezTo>
                  <a:pt x="27453" y="13205"/>
                  <a:pt x="28000" y="11717"/>
                  <a:pt x="28000" y="10098"/>
                </a:cubicBezTo>
                <a:cubicBezTo>
                  <a:pt x="28000" y="6797"/>
                  <a:pt x="25758" y="4143"/>
                  <a:pt x="22969" y="4143"/>
                </a:cubicBezTo>
                <a:close/>
                <a:moveTo>
                  <a:pt x="15039" y="9127"/>
                </a:moveTo>
                <a:cubicBezTo>
                  <a:pt x="14930" y="9127"/>
                  <a:pt x="14820" y="8998"/>
                  <a:pt x="14766" y="8933"/>
                </a:cubicBezTo>
                <a:cubicBezTo>
                  <a:pt x="14055" y="8545"/>
                  <a:pt x="13289" y="8286"/>
                  <a:pt x="12469" y="8286"/>
                </a:cubicBezTo>
                <a:cubicBezTo>
                  <a:pt x="11102" y="8286"/>
                  <a:pt x="9844" y="8933"/>
                  <a:pt x="8859" y="10033"/>
                </a:cubicBezTo>
                <a:lnTo>
                  <a:pt x="4977" y="14629"/>
                </a:lnTo>
                <a:cubicBezTo>
                  <a:pt x="4047" y="15795"/>
                  <a:pt x="3500" y="17283"/>
                  <a:pt x="3500" y="18902"/>
                </a:cubicBezTo>
                <a:cubicBezTo>
                  <a:pt x="3500" y="22203"/>
                  <a:pt x="5742" y="24857"/>
                  <a:pt x="8586" y="24857"/>
                </a:cubicBezTo>
                <a:cubicBezTo>
                  <a:pt x="9461" y="24857"/>
                  <a:pt x="10336" y="24598"/>
                  <a:pt x="11102" y="24080"/>
                </a:cubicBezTo>
                <a:cubicBezTo>
                  <a:pt x="11977" y="25116"/>
                  <a:pt x="12961" y="25958"/>
                  <a:pt x="14109" y="26605"/>
                </a:cubicBezTo>
                <a:cubicBezTo>
                  <a:pt x="12578" y="28158"/>
                  <a:pt x="10609" y="29000"/>
                  <a:pt x="8586" y="29000"/>
                </a:cubicBezTo>
                <a:cubicBezTo>
                  <a:pt x="3828" y="29000"/>
                  <a:pt x="0" y="24469"/>
                  <a:pt x="0" y="18902"/>
                </a:cubicBezTo>
                <a:cubicBezTo>
                  <a:pt x="0" y="16183"/>
                  <a:pt x="930" y="13594"/>
                  <a:pt x="2516" y="11717"/>
                </a:cubicBezTo>
                <a:lnTo>
                  <a:pt x="6398" y="7121"/>
                </a:lnTo>
                <a:cubicBezTo>
                  <a:pt x="7984" y="5243"/>
                  <a:pt x="10172" y="4143"/>
                  <a:pt x="12469" y="4143"/>
                </a:cubicBezTo>
                <a:cubicBezTo>
                  <a:pt x="17172" y="4143"/>
                  <a:pt x="21000" y="8739"/>
                  <a:pt x="21000" y="14306"/>
                </a:cubicBezTo>
                <a:lnTo>
                  <a:pt x="21000" y="14565"/>
                </a:lnTo>
                <a:cubicBezTo>
                  <a:pt x="21000" y="15730"/>
                  <a:pt x="20180" y="16636"/>
                  <a:pt x="19195" y="16571"/>
                </a:cubicBezTo>
                <a:cubicBezTo>
                  <a:pt x="18266" y="16571"/>
                  <a:pt x="17500" y="15600"/>
                  <a:pt x="17500" y="14435"/>
                </a:cubicBezTo>
                <a:lnTo>
                  <a:pt x="17500" y="14306"/>
                </a:lnTo>
                <a:cubicBezTo>
                  <a:pt x="17500" y="12105"/>
                  <a:pt x="16516" y="10228"/>
                  <a:pt x="15039" y="9192"/>
                </a:cubicBezTo>
                <a:close/>
                <a:moveTo>
                  <a:pt x="15039" y="9127"/>
                </a:move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Shape 36"/>
          <p:cNvSpPr/>
          <p:nvPr/>
        </p:nvSpPr>
        <p:spPr>
          <a:xfrm>
            <a:off x="10696575" y="4038600"/>
            <a:ext cx="6677025" cy="3829050"/>
          </a:xfrm>
          <a:custGeom>
            <a:avLst/>
            <a:gdLst/>
            <a:ahLst/>
            <a:cxnLst/>
            <a:rect l="0" t="0" r="701000" b="402000"/>
            <a:pathLst>
              <a:path w="701000" h="402000">
                <a:moveTo>
                  <a:pt x="14000" y="0"/>
                </a:moveTo>
                <a:lnTo>
                  <a:pt x="687000" y="0"/>
                </a:lnTo>
                <a:cubicBezTo>
                  <a:pt x="694730" y="0"/>
                  <a:pt x="701000" y="6270"/>
                  <a:pt x="701000" y="14000"/>
                </a:cubicBezTo>
                <a:lnTo>
                  <a:pt x="701000" y="388000"/>
                </a:lnTo>
                <a:cubicBezTo>
                  <a:pt x="701000" y="395730"/>
                  <a:pt x="694730" y="402000"/>
                  <a:pt x="687000" y="402000"/>
                </a:cubicBezTo>
                <a:lnTo>
                  <a:pt x="14000" y="402000"/>
                </a:lnTo>
                <a:cubicBezTo>
                  <a:pt x="6270" y="402000"/>
                  <a:pt x="0" y="395730"/>
                  <a:pt x="0" y="388000"/>
                </a:cubicBezTo>
                <a:lnTo>
                  <a:pt x="0" y="14000"/>
                </a:lnTo>
                <a:cubicBezTo>
                  <a:pt x="0" y="6270"/>
                  <a:pt x="6270" y="0"/>
                  <a:pt x="14000" y="0"/>
                </a:cubicBezTo>
                <a:close/>
              </a:path>
            </a:pathLst>
          </a:custGeom>
          <a:solidFill>
            <a:srgbClr val="1E293B"/>
          </a:solidFill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Text 37"/>
          <p:cNvSpPr txBox="1"/>
          <p:nvPr/>
        </p:nvSpPr>
        <p:spPr>
          <a:xfrm>
            <a:off x="11010900" y="4329976"/>
            <a:ext cx="3163788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100"/>
              </a:lnSpc>
            </a:pPr>
            <a:r>
              <a:rPr sz="1500" spc="180">
                <a:solidFill>
                  <a:srgbClr val="A3B1C6"/>
                </a:solidFill>
                <a:latin typeface="JetBrains Mono"/>
                <a:ea typeface="JetBrains Mono"/>
                <a:cs typeface="JetBrains Mono"/>
              </a:rPr>
              <a:t>WHAT BROKE · DOCUMENTED</a:t>
            </a:r>
          </a:p>
        </p:txBody>
      </p:sp>
      <p:sp>
        <p:nvSpPr>
          <p:cNvPr id="38" name="Shape 38"/>
          <p:cNvSpPr/>
          <p:nvPr/>
        </p:nvSpPr>
        <p:spPr>
          <a:xfrm>
            <a:off x="11010900" y="4772025"/>
            <a:ext cx="6048375" cy="1314450"/>
          </a:xfrm>
          <a:custGeom>
            <a:avLst/>
            <a:gdLst/>
            <a:ahLst/>
            <a:cxnLst/>
            <a:rect l="0" t="0" r="635000" b="138000"/>
            <a:pathLst>
              <a:path w="635000" h="138000">
                <a:moveTo>
                  <a:pt x="0" y="0"/>
                </a:moveTo>
                <a:lnTo>
                  <a:pt x="627000" y="0"/>
                </a:lnTo>
                <a:cubicBezTo>
                  <a:pt x="631418" y="0"/>
                  <a:pt x="635000" y="3582"/>
                  <a:pt x="635000" y="8000"/>
                </a:cubicBezTo>
                <a:lnTo>
                  <a:pt x="635000" y="130000"/>
                </a:lnTo>
                <a:cubicBezTo>
                  <a:pt x="635000" y="134418"/>
                  <a:pt x="631418" y="138000"/>
                  <a:pt x="627000" y="138000"/>
                </a:cubicBezTo>
                <a:lnTo>
                  <a:pt x="0" y="1380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16078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Shape 39"/>
          <p:cNvSpPr/>
          <p:nvPr/>
        </p:nvSpPr>
        <p:spPr>
          <a:xfrm>
            <a:off x="11010900" y="4772025"/>
            <a:ext cx="6048375" cy="1314450"/>
          </a:xfrm>
          <a:custGeom>
            <a:avLst/>
            <a:gdLst/>
            <a:ahLst/>
            <a:cxnLst/>
            <a:rect l="0" t="0" r="635000" b="138000"/>
            <a:pathLst>
              <a:path w="635000" h="138000">
                <a:moveTo>
                  <a:pt x="0" y="138000"/>
                </a:moveTo>
                <a:lnTo>
                  <a:pt x="0" y="0"/>
                </a:lnTo>
              </a:path>
            </a:pathLst>
          </a:custGeom>
          <a:noFill/>
          <a:ln w="38100" cap="flat">
            <a:solidFill>
              <a:srgbClr val="F59E0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Text 40"/>
          <p:cNvSpPr txBox="1"/>
          <p:nvPr/>
        </p:nvSpPr>
        <p:spPr>
          <a:xfrm>
            <a:off x="11258550" y="4875358"/>
            <a:ext cx="3096518" cy="3466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730"/>
              </a:lnSpc>
            </a:pPr>
            <a:r>
              <a:rPr sz="195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Run 1 — majority collapse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11258550" y="5284319"/>
            <a:ext cx="3889921" cy="293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>
                <a:solidFill>
                  <a:srgbClr val="A3B1C6"/>
                </a:solidFill>
                <a:latin typeface="Inter"/>
                <a:ea typeface="Inter"/>
                <a:cs typeface="Inter"/>
              </a:rPr>
              <a:t>Predicted the majority class for every post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11258550" y="5634810"/>
            <a:ext cx="2108746" cy="293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>
                <a:solidFill>
                  <a:srgbClr val="A3B1C6"/>
                </a:solidFill>
                <a:latin typeface="Inter"/>
                <a:ea typeface="Inter"/>
                <a:cs typeface="Inter"/>
              </a:rPr>
              <a:t>Fix applied and logged</a:t>
            </a:r>
          </a:p>
        </p:txBody>
      </p:sp>
      <p:sp>
        <p:nvSpPr>
          <p:cNvPr id="43" name="Shape 43"/>
          <p:cNvSpPr/>
          <p:nvPr/>
        </p:nvSpPr>
        <p:spPr>
          <a:xfrm>
            <a:off x="11010900" y="6238875"/>
            <a:ext cx="6048375" cy="1314450"/>
          </a:xfrm>
          <a:custGeom>
            <a:avLst/>
            <a:gdLst/>
            <a:ahLst/>
            <a:cxnLst/>
            <a:rect l="0" t="0" r="635000" b="138000"/>
            <a:pathLst>
              <a:path w="635000" h="138000">
                <a:moveTo>
                  <a:pt x="0" y="0"/>
                </a:moveTo>
                <a:lnTo>
                  <a:pt x="627000" y="0"/>
                </a:lnTo>
                <a:cubicBezTo>
                  <a:pt x="631418" y="0"/>
                  <a:pt x="635000" y="3582"/>
                  <a:pt x="635000" y="8000"/>
                </a:cubicBezTo>
                <a:lnTo>
                  <a:pt x="635000" y="130000"/>
                </a:lnTo>
                <a:cubicBezTo>
                  <a:pt x="635000" y="134418"/>
                  <a:pt x="631418" y="138000"/>
                  <a:pt x="627000" y="138000"/>
                </a:cubicBezTo>
                <a:lnTo>
                  <a:pt x="0" y="1380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16078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Shape 44"/>
          <p:cNvSpPr/>
          <p:nvPr/>
        </p:nvSpPr>
        <p:spPr>
          <a:xfrm>
            <a:off x="11010900" y="6238875"/>
            <a:ext cx="6048375" cy="1314450"/>
          </a:xfrm>
          <a:custGeom>
            <a:avLst/>
            <a:gdLst/>
            <a:ahLst/>
            <a:cxnLst/>
            <a:rect l="0" t="0" r="635000" b="138000"/>
            <a:pathLst>
              <a:path w="635000" h="138000">
                <a:moveTo>
                  <a:pt x="0" y="138000"/>
                </a:moveTo>
                <a:lnTo>
                  <a:pt x="0" y="0"/>
                </a:lnTo>
              </a:path>
            </a:pathLst>
          </a:custGeom>
          <a:noFill/>
          <a:ln w="38100" cap="flat">
            <a:solidFill>
              <a:srgbClr val="F59E0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 45"/>
          <p:cNvSpPr txBox="1"/>
          <p:nvPr/>
        </p:nvSpPr>
        <p:spPr>
          <a:xfrm>
            <a:off x="11258550" y="6342059"/>
            <a:ext cx="3715941" cy="3466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730"/>
              </a:lnSpc>
            </a:pPr>
            <a:r>
              <a:rPr sz="195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Run 2 — mixed-class blindness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11258550" y="6751020"/>
            <a:ext cx="4274493" cy="293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>
                <a:solidFill>
                  <a:srgbClr val="A3B1C6"/>
                </a:solidFill>
                <a:latin typeface="Inter"/>
                <a:ea typeface="Inter"/>
                <a:cs typeface="Inter"/>
              </a:rPr>
              <a:t>Missed posts mixing education with promotion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11258550" y="7101511"/>
            <a:ext cx="2108746" cy="293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>
                <a:solidFill>
                  <a:srgbClr val="A3B1C6"/>
                </a:solidFill>
                <a:latin typeface="Inter"/>
                <a:ea typeface="Inter"/>
                <a:cs typeface="Inter"/>
              </a:rPr>
              <a:t>Fix applied and logged</a:t>
            </a:r>
          </a:p>
        </p:txBody>
      </p:sp>
      <p:sp>
        <p:nvSpPr>
          <p:cNvPr id="48" name="Shape 48"/>
          <p:cNvSpPr/>
          <p:nvPr/>
        </p:nvSpPr>
        <p:spPr>
          <a:xfrm>
            <a:off x="914400" y="8782050"/>
            <a:ext cx="16459200" cy="742950"/>
          </a:xfrm>
          <a:custGeom>
            <a:avLst/>
            <a:gdLst/>
            <a:ahLst/>
            <a:cxnLst/>
            <a:rect l="0" t="0" r="1728000" b="78000"/>
            <a:pathLst>
              <a:path w="1728000" h="78000">
                <a:moveTo>
                  <a:pt x="0" y="0"/>
                </a:moveTo>
                <a:lnTo>
                  <a:pt x="1728000" y="0"/>
                </a:lnTo>
                <a:lnTo>
                  <a:pt x="1728000" y="78000"/>
                </a:lnTo>
                <a:lnTo>
                  <a:pt x="0" y="78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Shape 49"/>
          <p:cNvSpPr/>
          <p:nvPr/>
        </p:nvSpPr>
        <p:spPr>
          <a:xfrm>
            <a:off x="914400" y="8782050"/>
            <a:ext cx="16459200" cy="742950"/>
          </a:xfrm>
          <a:custGeom>
            <a:avLst/>
            <a:gdLst/>
            <a:ahLst/>
            <a:cxnLst/>
            <a:rect l="0" t="0" r="1728000" b="78000"/>
            <a:pathLst>
              <a:path w="1728000" h="78000">
                <a:moveTo>
                  <a:pt x="0" y="0"/>
                </a:moveTo>
                <a:lnTo>
                  <a:pt x="1728000" y="0"/>
                </a:lnTo>
              </a:path>
            </a:pathLst>
          </a:custGeom>
          <a:noFill/>
          <a:ln w="9525" cap="flat">
            <a:solidFill>
              <a:srgbClr val="2B3A5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Text 50"/>
          <p:cNvSpPr txBox="1"/>
          <p:nvPr/>
        </p:nvSpPr>
        <p:spPr>
          <a:xfrm>
            <a:off x="914400" y="9006926"/>
            <a:ext cx="13853666" cy="502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960"/>
              </a:lnSpc>
            </a:pPr>
            <a:r>
              <a:rPr sz="3300" b="1" spc="-49">
                <a:solidFill>
                  <a:srgbClr val="F1F5F9"/>
                </a:solidFill>
                <a:latin typeface="Inter"/>
                <a:ea typeface="Inter"/>
                <a:cs typeface="Inter"/>
              </a:rPr>
              <a:t>The heuristic explains, the model double-checks, neither decides alone.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0" t="0" r="1920000" b="1080000"/>
            <a:pathLst>
              <a:path w="1920000" h="1080000">
                <a:moveTo>
                  <a:pt x="0" y="0"/>
                </a:moveTo>
                <a:lnTo>
                  <a:pt x="1920000" y="0"/>
                </a:lnTo>
                <a:lnTo>
                  <a:pt x="1920000" y="1080000"/>
                </a:lnTo>
                <a:lnTo>
                  <a:pt x="0" y="1080000"/>
                </a:lnTo>
                <a:close/>
              </a:path>
            </a:pathLst>
          </a:custGeom>
          <a:gradFill rotWithShape="1">
            <a:gsLst>
              <a:gs pos="0">
                <a:srgbClr val="94A3B8">
                  <a:alpha val="5882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 3"/>
          <p:cNvSpPr txBox="1"/>
          <p:nvPr/>
        </p:nvSpPr>
        <p:spPr>
          <a:xfrm>
            <a:off x="914400" y="808863"/>
            <a:ext cx="3017639" cy="293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spc="198">
                <a:solidFill>
                  <a:srgbClr val="94A3B8"/>
                </a:solidFill>
                <a:latin typeface="JetBrains Mono"/>
                <a:ea typeface="JetBrains Mono"/>
                <a:cs typeface="JetBrains Mono"/>
              </a:rPr>
              <a:t>05 — TRUST AND SCALE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914400" y="1238566"/>
            <a:ext cx="8884741" cy="7447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5865"/>
              </a:lnSpc>
            </a:pPr>
            <a:r>
              <a:rPr sz="5100" b="1" spc="-102">
                <a:solidFill>
                  <a:srgbClr val="F1F5F9"/>
                </a:solidFill>
                <a:latin typeface="Inter"/>
                <a:ea typeface="Inter"/>
                <a:cs typeface="Inter"/>
              </a:rPr>
              <a:t>Safe by design. Built to scale.</a:t>
            </a:r>
          </a:p>
        </p:txBody>
      </p:sp>
      <p:sp>
        <p:nvSpPr>
          <p:cNvPr id="5" name="Shape 5"/>
          <p:cNvSpPr/>
          <p:nvPr/>
        </p:nvSpPr>
        <p:spPr>
          <a:xfrm>
            <a:off x="914400" y="2447925"/>
            <a:ext cx="8077200" cy="4676775"/>
          </a:xfrm>
          <a:custGeom>
            <a:avLst/>
            <a:gdLst/>
            <a:ahLst/>
            <a:cxnLst/>
            <a:rect l="0" t="0" r="848000" b="491000"/>
            <a:pathLst>
              <a:path w="848000" h="491000">
                <a:moveTo>
                  <a:pt x="14000" y="0"/>
                </a:moveTo>
                <a:lnTo>
                  <a:pt x="834000" y="0"/>
                </a:lnTo>
                <a:cubicBezTo>
                  <a:pt x="841730" y="0"/>
                  <a:pt x="848000" y="6270"/>
                  <a:pt x="848000" y="14000"/>
                </a:cubicBezTo>
                <a:lnTo>
                  <a:pt x="848000" y="477000"/>
                </a:lnTo>
                <a:cubicBezTo>
                  <a:pt x="848000" y="484730"/>
                  <a:pt x="841730" y="491000"/>
                  <a:pt x="834000" y="491000"/>
                </a:cubicBezTo>
                <a:lnTo>
                  <a:pt x="14000" y="491000"/>
                </a:lnTo>
                <a:cubicBezTo>
                  <a:pt x="6270" y="491000"/>
                  <a:pt x="0" y="484730"/>
                  <a:pt x="0" y="477000"/>
                </a:cubicBezTo>
                <a:lnTo>
                  <a:pt x="0" y="14000"/>
                </a:lnTo>
                <a:cubicBezTo>
                  <a:pt x="0" y="6270"/>
                  <a:pt x="6270" y="0"/>
                  <a:pt x="14000" y="0"/>
                </a:cubicBezTo>
                <a:close/>
              </a:path>
            </a:pathLst>
          </a:custGeom>
          <a:solidFill>
            <a:srgbClr val="1E293B"/>
          </a:solidFill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Shape 6"/>
          <p:cNvSpPr/>
          <p:nvPr/>
        </p:nvSpPr>
        <p:spPr>
          <a:xfrm>
            <a:off x="1335881" y="2837259"/>
            <a:ext cx="247650" cy="247650"/>
          </a:xfrm>
          <a:custGeom>
            <a:avLst/>
            <a:gdLst/>
            <a:ahLst/>
            <a:cxnLst/>
            <a:rect l="0" t="0" r="26000" b="26000"/>
            <a:pathLst>
              <a:path w="26000" h="26000">
                <a:moveTo>
                  <a:pt x="13000" y="0"/>
                </a:moveTo>
                <a:cubicBezTo>
                  <a:pt x="13271" y="0"/>
                  <a:pt x="13488" y="51"/>
                  <a:pt x="13704" y="153"/>
                </a:cubicBezTo>
                <a:lnTo>
                  <a:pt x="23942" y="4240"/>
                </a:lnTo>
                <a:cubicBezTo>
                  <a:pt x="25133" y="4699"/>
                  <a:pt x="26000" y="5823"/>
                  <a:pt x="26000" y="7151"/>
                </a:cubicBezTo>
                <a:cubicBezTo>
                  <a:pt x="26000" y="12208"/>
                  <a:pt x="23779" y="21505"/>
                  <a:pt x="14463" y="25694"/>
                </a:cubicBezTo>
                <a:cubicBezTo>
                  <a:pt x="13542" y="26102"/>
                  <a:pt x="12458" y="26102"/>
                  <a:pt x="11592" y="25694"/>
                </a:cubicBezTo>
                <a:cubicBezTo>
                  <a:pt x="2221" y="21505"/>
                  <a:pt x="54" y="12208"/>
                  <a:pt x="0" y="7151"/>
                </a:cubicBezTo>
                <a:cubicBezTo>
                  <a:pt x="0" y="5823"/>
                  <a:pt x="867" y="4699"/>
                  <a:pt x="2058" y="4240"/>
                </a:cubicBezTo>
                <a:lnTo>
                  <a:pt x="12296" y="153"/>
                </a:lnTo>
                <a:cubicBezTo>
                  <a:pt x="12513" y="51"/>
                  <a:pt x="12729" y="0"/>
                  <a:pt x="13000" y="0"/>
                </a:cubicBezTo>
                <a:close/>
                <a:moveTo>
                  <a:pt x="13000" y="3422"/>
                </a:moveTo>
                <a:lnTo>
                  <a:pt x="13000" y="22731"/>
                </a:lnTo>
                <a:cubicBezTo>
                  <a:pt x="20475" y="19308"/>
                  <a:pt x="22479" y="11749"/>
                  <a:pt x="22533" y="7253"/>
                </a:cubicBezTo>
                <a:lnTo>
                  <a:pt x="13000" y="3422"/>
                </a:lnTo>
                <a:lnTo>
                  <a:pt x="13000" y="3422"/>
                </a:lnTo>
                <a:close/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1747838" y="2778846"/>
            <a:ext cx="1230809" cy="3219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535"/>
              </a:lnSpc>
            </a:pPr>
            <a:r>
              <a:rPr sz="195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Guardrails</a:t>
            </a:r>
          </a:p>
        </p:txBody>
      </p:sp>
      <p:sp>
        <p:nvSpPr>
          <p:cNvPr id="8" name="Shape 8"/>
          <p:cNvSpPr/>
          <p:nvPr/>
        </p:nvSpPr>
        <p:spPr>
          <a:xfrm>
            <a:off x="1338263" y="3860155"/>
            <a:ext cx="200025" cy="228600"/>
          </a:xfrm>
          <a:custGeom>
            <a:avLst/>
            <a:gdLst/>
            <a:ahLst/>
            <a:cxnLst/>
            <a:rect l="0" t="0" r="21000" b="24000"/>
            <a:pathLst>
              <a:path w="21000" h="24000">
                <a:moveTo>
                  <a:pt x="20396" y="340"/>
                </a:moveTo>
                <a:cubicBezTo>
                  <a:pt x="21052" y="974"/>
                  <a:pt x="21193" y="2128"/>
                  <a:pt x="20724" y="2936"/>
                </a:cubicBezTo>
                <a:lnTo>
                  <a:pt x="8721" y="23241"/>
                </a:lnTo>
                <a:cubicBezTo>
                  <a:pt x="8440" y="23645"/>
                  <a:pt x="8065" y="23933"/>
                  <a:pt x="7643" y="23991"/>
                </a:cubicBezTo>
                <a:cubicBezTo>
                  <a:pt x="7174" y="24049"/>
                  <a:pt x="6752" y="23818"/>
                  <a:pt x="6423" y="23472"/>
                </a:cubicBezTo>
                <a:lnTo>
                  <a:pt x="422" y="16088"/>
                </a:lnTo>
                <a:cubicBezTo>
                  <a:pt x="-141" y="15338"/>
                  <a:pt x="-141" y="14184"/>
                  <a:pt x="422" y="13435"/>
                </a:cubicBezTo>
                <a:cubicBezTo>
                  <a:pt x="1032" y="12742"/>
                  <a:pt x="1969" y="12742"/>
                  <a:pt x="2579" y="13435"/>
                </a:cubicBezTo>
                <a:lnTo>
                  <a:pt x="7314" y="19319"/>
                </a:lnTo>
                <a:lnTo>
                  <a:pt x="18286" y="743"/>
                </a:lnTo>
                <a:cubicBezTo>
                  <a:pt x="18802" y="-64"/>
                  <a:pt x="19739" y="-237"/>
                  <a:pt x="20396" y="340"/>
                </a:cubicBezTo>
                <a:close/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743075" y="3731430"/>
            <a:ext cx="5556498" cy="386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045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Never rates securities — no buy, sell or hold</a:t>
            </a:r>
          </a:p>
        </p:txBody>
      </p:sp>
      <p:sp>
        <p:nvSpPr>
          <p:cNvPr id="10" name="Shape 10"/>
          <p:cNvSpPr/>
          <p:nvPr/>
        </p:nvSpPr>
        <p:spPr>
          <a:xfrm>
            <a:off x="1338263" y="4589711"/>
            <a:ext cx="200025" cy="228600"/>
          </a:xfrm>
          <a:custGeom>
            <a:avLst/>
            <a:gdLst/>
            <a:ahLst/>
            <a:cxnLst/>
            <a:rect l="0" t="0" r="21000" b="24000"/>
            <a:pathLst>
              <a:path w="21000" h="24000">
                <a:moveTo>
                  <a:pt x="20396" y="340"/>
                </a:moveTo>
                <a:cubicBezTo>
                  <a:pt x="21052" y="974"/>
                  <a:pt x="21193" y="2128"/>
                  <a:pt x="20724" y="2936"/>
                </a:cubicBezTo>
                <a:lnTo>
                  <a:pt x="8721" y="23241"/>
                </a:lnTo>
                <a:cubicBezTo>
                  <a:pt x="8440" y="23645"/>
                  <a:pt x="8065" y="23933"/>
                  <a:pt x="7643" y="23991"/>
                </a:cubicBezTo>
                <a:cubicBezTo>
                  <a:pt x="7174" y="24049"/>
                  <a:pt x="6752" y="23818"/>
                  <a:pt x="6423" y="23472"/>
                </a:cubicBezTo>
                <a:lnTo>
                  <a:pt x="422" y="16088"/>
                </a:lnTo>
                <a:cubicBezTo>
                  <a:pt x="-141" y="15338"/>
                  <a:pt x="-141" y="14184"/>
                  <a:pt x="422" y="13435"/>
                </a:cubicBezTo>
                <a:cubicBezTo>
                  <a:pt x="1032" y="12742"/>
                  <a:pt x="1969" y="12742"/>
                  <a:pt x="2579" y="13435"/>
                </a:cubicBezTo>
                <a:lnTo>
                  <a:pt x="7314" y="19319"/>
                </a:lnTo>
                <a:lnTo>
                  <a:pt x="18286" y="743"/>
                </a:lnTo>
                <a:cubicBezTo>
                  <a:pt x="18802" y="-64"/>
                  <a:pt x="19739" y="-237"/>
                  <a:pt x="20396" y="340"/>
                </a:cubicBezTo>
                <a:close/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1743075" y="4460985"/>
            <a:ext cx="4417814" cy="386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045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No financial advice, only education</a:t>
            </a:r>
          </a:p>
        </p:txBody>
      </p:sp>
      <p:sp>
        <p:nvSpPr>
          <p:cNvPr id="12" name="Shape 12"/>
          <p:cNvSpPr/>
          <p:nvPr/>
        </p:nvSpPr>
        <p:spPr>
          <a:xfrm>
            <a:off x="1338263" y="5319266"/>
            <a:ext cx="200025" cy="228600"/>
          </a:xfrm>
          <a:custGeom>
            <a:avLst/>
            <a:gdLst/>
            <a:ahLst/>
            <a:cxnLst/>
            <a:rect l="0" t="0" r="21000" b="24000"/>
            <a:pathLst>
              <a:path w="21000" h="24000">
                <a:moveTo>
                  <a:pt x="20396" y="340"/>
                </a:moveTo>
                <a:cubicBezTo>
                  <a:pt x="21052" y="974"/>
                  <a:pt x="21193" y="2128"/>
                  <a:pt x="20724" y="2936"/>
                </a:cubicBezTo>
                <a:lnTo>
                  <a:pt x="8721" y="23241"/>
                </a:lnTo>
                <a:cubicBezTo>
                  <a:pt x="8440" y="23645"/>
                  <a:pt x="8065" y="23933"/>
                  <a:pt x="7643" y="23991"/>
                </a:cubicBezTo>
                <a:cubicBezTo>
                  <a:pt x="7174" y="24049"/>
                  <a:pt x="6752" y="23818"/>
                  <a:pt x="6423" y="23472"/>
                </a:cubicBezTo>
                <a:lnTo>
                  <a:pt x="422" y="16088"/>
                </a:lnTo>
                <a:cubicBezTo>
                  <a:pt x="-141" y="15338"/>
                  <a:pt x="-141" y="14184"/>
                  <a:pt x="422" y="13435"/>
                </a:cubicBezTo>
                <a:cubicBezTo>
                  <a:pt x="1032" y="12742"/>
                  <a:pt x="1969" y="12742"/>
                  <a:pt x="2579" y="13435"/>
                </a:cubicBezTo>
                <a:lnTo>
                  <a:pt x="7314" y="19319"/>
                </a:lnTo>
                <a:lnTo>
                  <a:pt x="18286" y="743"/>
                </a:lnTo>
                <a:cubicBezTo>
                  <a:pt x="18802" y="-64"/>
                  <a:pt x="19739" y="-237"/>
                  <a:pt x="20396" y="340"/>
                </a:cubicBezTo>
                <a:close/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 13"/>
          <p:cNvSpPr txBox="1"/>
          <p:nvPr/>
        </p:nvSpPr>
        <p:spPr>
          <a:xfrm>
            <a:off x="1743075" y="5190541"/>
            <a:ext cx="5011043" cy="386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045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Memory-only processing with rate caps</a:t>
            </a:r>
          </a:p>
        </p:txBody>
      </p:sp>
      <p:sp>
        <p:nvSpPr>
          <p:cNvPr id="14" name="Shape 14"/>
          <p:cNvSpPr/>
          <p:nvPr/>
        </p:nvSpPr>
        <p:spPr>
          <a:xfrm>
            <a:off x="1338263" y="6048821"/>
            <a:ext cx="200025" cy="228600"/>
          </a:xfrm>
          <a:custGeom>
            <a:avLst/>
            <a:gdLst/>
            <a:ahLst/>
            <a:cxnLst/>
            <a:rect l="0" t="0" r="21000" b="24000"/>
            <a:pathLst>
              <a:path w="21000" h="24000">
                <a:moveTo>
                  <a:pt x="20396" y="340"/>
                </a:moveTo>
                <a:cubicBezTo>
                  <a:pt x="21052" y="974"/>
                  <a:pt x="21193" y="2128"/>
                  <a:pt x="20724" y="2936"/>
                </a:cubicBezTo>
                <a:lnTo>
                  <a:pt x="8721" y="23241"/>
                </a:lnTo>
                <a:cubicBezTo>
                  <a:pt x="8440" y="23645"/>
                  <a:pt x="8065" y="23933"/>
                  <a:pt x="7643" y="23991"/>
                </a:cubicBezTo>
                <a:cubicBezTo>
                  <a:pt x="7174" y="24049"/>
                  <a:pt x="6752" y="23818"/>
                  <a:pt x="6423" y="23472"/>
                </a:cubicBezTo>
                <a:lnTo>
                  <a:pt x="422" y="16088"/>
                </a:lnTo>
                <a:cubicBezTo>
                  <a:pt x="-141" y="15338"/>
                  <a:pt x="-141" y="14184"/>
                  <a:pt x="422" y="13435"/>
                </a:cubicBezTo>
                <a:cubicBezTo>
                  <a:pt x="1032" y="12742"/>
                  <a:pt x="1969" y="12742"/>
                  <a:pt x="2579" y="13435"/>
                </a:cubicBezTo>
                <a:lnTo>
                  <a:pt x="7314" y="19319"/>
                </a:lnTo>
                <a:lnTo>
                  <a:pt x="18286" y="743"/>
                </a:lnTo>
                <a:cubicBezTo>
                  <a:pt x="18802" y="-64"/>
                  <a:pt x="19739" y="-237"/>
                  <a:pt x="20396" y="340"/>
                </a:cubicBezTo>
                <a:close/>
              </a:path>
            </a:pathLst>
          </a:custGeom>
          <a:solidFill>
            <a:srgbClr val="34D3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 15"/>
          <p:cNvSpPr txBox="1"/>
          <p:nvPr/>
        </p:nvSpPr>
        <p:spPr>
          <a:xfrm>
            <a:off x="1743075" y="5920096"/>
            <a:ext cx="5408563" cy="386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045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“Cannot verify, never false” on every result</a:t>
            </a:r>
          </a:p>
        </p:txBody>
      </p:sp>
      <p:sp>
        <p:nvSpPr>
          <p:cNvPr id="16" name="Shape 16"/>
          <p:cNvSpPr/>
          <p:nvPr/>
        </p:nvSpPr>
        <p:spPr>
          <a:xfrm>
            <a:off x="9296400" y="2447925"/>
            <a:ext cx="8077200" cy="4676775"/>
          </a:xfrm>
          <a:custGeom>
            <a:avLst/>
            <a:gdLst/>
            <a:ahLst/>
            <a:cxnLst/>
            <a:rect l="0" t="0" r="848000" b="491000"/>
            <a:pathLst>
              <a:path w="848000" h="491000">
                <a:moveTo>
                  <a:pt x="14000" y="0"/>
                </a:moveTo>
                <a:lnTo>
                  <a:pt x="834000" y="0"/>
                </a:lnTo>
                <a:cubicBezTo>
                  <a:pt x="841730" y="0"/>
                  <a:pt x="848000" y="6270"/>
                  <a:pt x="848000" y="14000"/>
                </a:cubicBezTo>
                <a:lnTo>
                  <a:pt x="848000" y="477000"/>
                </a:lnTo>
                <a:cubicBezTo>
                  <a:pt x="848000" y="484730"/>
                  <a:pt x="841730" y="491000"/>
                  <a:pt x="834000" y="491000"/>
                </a:cubicBezTo>
                <a:lnTo>
                  <a:pt x="14000" y="491000"/>
                </a:lnTo>
                <a:cubicBezTo>
                  <a:pt x="6270" y="491000"/>
                  <a:pt x="0" y="484730"/>
                  <a:pt x="0" y="477000"/>
                </a:cubicBezTo>
                <a:lnTo>
                  <a:pt x="0" y="14000"/>
                </a:lnTo>
                <a:cubicBezTo>
                  <a:pt x="0" y="6270"/>
                  <a:pt x="6270" y="0"/>
                  <a:pt x="14000" y="0"/>
                </a:cubicBezTo>
                <a:close/>
              </a:path>
            </a:pathLst>
          </a:custGeom>
          <a:solidFill>
            <a:srgbClr val="1E293B"/>
          </a:solidFill>
          <a:ln w="9525" cap="flat" algn="in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9717881" y="2837259"/>
            <a:ext cx="247650" cy="247650"/>
          </a:xfrm>
          <a:custGeom>
            <a:avLst/>
            <a:gdLst/>
            <a:ahLst/>
            <a:cxnLst/>
            <a:rect l="0" t="0" r="26000" b="26000"/>
            <a:pathLst>
              <a:path w="26000" h="26000">
                <a:moveTo>
                  <a:pt x="26000" y="4875"/>
                </a:moveTo>
                <a:cubicBezTo>
                  <a:pt x="26000" y="7414"/>
                  <a:pt x="23004" y="11223"/>
                  <a:pt x="21684" y="12746"/>
                </a:cubicBezTo>
                <a:cubicBezTo>
                  <a:pt x="21531" y="12949"/>
                  <a:pt x="21227" y="13051"/>
                  <a:pt x="20973" y="13000"/>
                </a:cubicBezTo>
                <a:lnTo>
                  <a:pt x="16250" y="13000"/>
                </a:lnTo>
                <a:cubicBezTo>
                  <a:pt x="15336" y="13000"/>
                  <a:pt x="14625" y="13711"/>
                  <a:pt x="14625" y="14625"/>
                </a:cubicBezTo>
                <a:cubicBezTo>
                  <a:pt x="14625" y="15539"/>
                  <a:pt x="15336" y="16250"/>
                  <a:pt x="16250" y="16250"/>
                </a:cubicBezTo>
                <a:lnTo>
                  <a:pt x="21125" y="16250"/>
                </a:lnTo>
                <a:cubicBezTo>
                  <a:pt x="23816" y="16250"/>
                  <a:pt x="26000" y="18434"/>
                  <a:pt x="26000" y="21125"/>
                </a:cubicBezTo>
                <a:cubicBezTo>
                  <a:pt x="26000" y="23816"/>
                  <a:pt x="23816" y="26000"/>
                  <a:pt x="21125" y="26000"/>
                </a:cubicBezTo>
                <a:lnTo>
                  <a:pt x="7109" y="26000"/>
                </a:lnTo>
                <a:cubicBezTo>
                  <a:pt x="7516" y="25492"/>
                  <a:pt x="8074" y="24832"/>
                  <a:pt x="8633" y="24121"/>
                </a:cubicBezTo>
                <a:cubicBezTo>
                  <a:pt x="8938" y="23715"/>
                  <a:pt x="9242" y="23258"/>
                  <a:pt x="9598" y="22750"/>
                </a:cubicBezTo>
                <a:lnTo>
                  <a:pt x="21125" y="22750"/>
                </a:lnTo>
                <a:cubicBezTo>
                  <a:pt x="22039" y="22750"/>
                  <a:pt x="22750" y="22039"/>
                  <a:pt x="22750" y="21125"/>
                </a:cubicBezTo>
                <a:cubicBezTo>
                  <a:pt x="22750" y="20211"/>
                  <a:pt x="22039" y="19500"/>
                  <a:pt x="21125" y="19500"/>
                </a:cubicBezTo>
                <a:lnTo>
                  <a:pt x="16250" y="19500"/>
                </a:lnTo>
                <a:cubicBezTo>
                  <a:pt x="13559" y="19500"/>
                  <a:pt x="11375" y="17316"/>
                  <a:pt x="11375" y="14625"/>
                </a:cubicBezTo>
                <a:cubicBezTo>
                  <a:pt x="11375" y="11934"/>
                  <a:pt x="13559" y="9750"/>
                  <a:pt x="16250" y="9750"/>
                </a:cubicBezTo>
                <a:lnTo>
                  <a:pt x="18281" y="9750"/>
                </a:lnTo>
                <a:cubicBezTo>
                  <a:pt x="17215" y="8176"/>
                  <a:pt x="16250" y="6297"/>
                  <a:pt x="16250" y="4875"/>
                </a:cubicBezTo>
                <a:cubicBezTo>
                  <a:pt x="16250" y="2184"/>
                  <a:pt x="18434" y="0"/>
                  <a:pt x="21125" y="0"/>
                </a:cubicBezTo>
                <a:cubicBezTo>
                  <a:pt x="23816" y="0"/>
                  <a:pt x="26000" y="2184"/>
                  <a:pt x="26000" y="4875"/>
                </a:cubicBezTo>
                <a:close/>
                <a:moveTo>
                  <a:pt x="5941" y="24832"/>
                </a:moveTo>
                <a:cubicBezTo>
                  <a:pt x="5738" y="25035"/>
                  <a:pt x="5586" y="25238"/>
                  <a:pt x="5434" y="25391"/>
                </a:cubicBezTo>
                <a:lnTo>
                  <a:pt x="5332" y="25492"/>
                </a:lnTo>
                <a:lnTo>
                  <a:pt x="5332" y="25492"/>
                </a:lnTo>
                <a:cubicBezTo>
                  <a:pt x="5027" y="25746"/>
                  <a:pt x="4570" y="25695"/>
                  <a:pt x="4316" y="25391"/>
                </a:cubicBezTo>
                <a:cubicBezTo>
                  <a:pt x="3047" y="24020"/>
                  <a:pt x="0" y="20465"/>
                  <a:pt x="0" y="17875"/>
                </a:cubicBezTo>
                <a:cubicBezTo>
                  <a:pt x="0" y="15184"/>
                  <a:pt x="2184" y="13000"/>
                  <a:pt x="4875" y="13000"/>
                </a:cubicBezTo>
                <a:cubicBezTo>
                  <a:pt x="7566" y="13000"/>
                  <a:pt x="9750" y="15184"/>
                  <a:pt x="9750" y="17875"/>
                </a:cubicBezTo>
                <a:cubicBezTo>
                  <a:pt x="9750" y="19398"/>
                  <a:pt x="8684" y="21277"/>
                  <a:pt x="7566" y="22852"/>
                </a:cubicBezTo>
                <a:cubicBezTo>
                  <a:pt x="7008" y="23613"/>
                  <a:pt x="6449" y="24273"/>
                  <a:pt x="5992" y="24781"/>
                </a:cubicBezTo>
                <a:lnTo>
                  <a:pt x="5941" y="24832"/>
                </a:lnTo>
                <a:close/>
                <a:moveTo>
                  <a:pt x="6500" y="17875"/>
                </a:moveTo>
                <a:cubicBezTo>
                  <a:pt x="6500" y="16961"/>
                  <a:pt x="5789" y="16250"/>
                  <a:pt x="4875" y="16250"/>
                </a:cubicBezTo>
                <a:cubicBezTo>
                  <a:pt x="3961" y="16250"/>
                  <a:pt x="3250" y="16961"/>
                  <a:pt x="3250" y="17875"/>
                </a:cubicBezTo>
                <a:cubicBezTo>
                  <a:pt x="3250" y="18789"/>
                  <a:pt x="3961" y="19500"/>
                  <a:pt x="4875" y="19500"/>
                </a:cubicBezTo>
                <a:cubicBezTo>
                  <a:pt x="5789" y="19500"/>
                  <a:pt x="6500" y="18789"/>
                  <a:pt x="6500" y="17875"/>
                </a:cubicBezTo>
                <a:close/>
                <a:moveTo>
                  <a:pt x="21125" y="6500"/>
                </a:moveTo>
                <a:cubicBezTo>
                  <a:pt x="22039" y="6500"/>
                  <a:pt x="22750" y="5789"/>
                  <a:pt x="22750" y="4875"/>
                </a:cubicBezTo>
                <a:cubicBezTo>
                  <a:pt x="22750" y="3961"/>
                  <a:pt x="22039" y="3250"/>
                  <a:pt x="21125" y="3250"/>
                </a:cubicBezTo>
                <a:cubicBezTo>
                  <a:pt x="20211" y="3250"/>
                  <a:pt x="19500" y="3961"/>
                  <a:pt x="19500" y="4875"/>
                </a:cubicBezTo>
                <a:cubicBezTo>
                  <a:pt x="19500" y="5789"/>
                  <a:pt x="20211" y="6500"/>
                  <a:pt x="21125" y="6500"/>
                </a:cubicBez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 18"/>
          <p:cNvSpPr txBox="1"/>
          <p:nvPr/>
        </p:nvSpPr>
        <p:spPr>
          <a:xfrm>
            <a:off x="10129838" y="2778846"/>
            <a:ext cx="1262360" cy="3219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535"/>
              </a:lnSpc>
            </a:pPr>
            <a:r>
              <a:rPr sz="1950" b="1">
                <a:solidFill>
                  <a:srgbClr val="F1F5F9"/>
                </a:solidFill>
                <a:latin typeface="Inter"/>
                <a:ea typeface="Inter"/>
                <a:cs typeface="Inter"/>
              </a:rPr>
              <a:t>Scale path</a:t>
            </a:r>
          </a:p>
        </p:txBody>
      </p:sp>
      <p:sp>
        <p:nvSpPr>
          <p:cNvPr id="19" name="Shape 19"/>
          <p:cNvSpPr/>
          <p:nvPr/>
        </p:nvSpPr>
        <p:spPr>
          <a:xfrm>
            <a:off x="9705975" y="3860155"/>
            <a:ext cx="228600" cy="228600"/>
          </a:xfrm>
          <a:custGeom>
            <a:avLst/>
            <a:gdLst/>
            <a:ahLst/>
            <a:cxnLst/>
            <a:rect l="0" t="0" r="24000" b="24000"/>
            <a:pathLst>
              <a:path w="24000" h="24000">
                <a:moveTo>
                  <a:pt x="23578" y="13438"/>
                </a:moveTo>
                <a:cubicBezTo>
                  <a:pt x="24141" y="12625"/>
                  <a:pt x="24141" y="11375"/>
                  <a:pt x="23578" y="10563"/>
                </a:cubicBezTo>
                <a:lnTo>
                  <a:pt x="16078" y="563"/>
                </a:lnTo>
                <a:cubicBezTo>
                  <a:pt x="15469" y="-187"/>
                  <a:pt x="14531" y="-187"/>
                  <a:pt x="13922" y="563"/>
                </a:cubicBezTo>
                <a:cubicBezTo>
                  <a:pt x="13359" y="1375"/>
                  <a:pt x="13359" y="2625"/>
                  <a:pt x="13922" y="3438"/>
                </a:cubicBezTo>
                <a:lnTo>
                  <a:pt x="18891" y="10000"/>
                </a:lnTo>
                <a:lnTo>
                  <a:pt x="1500" y="10000"/>
                </a:lnTo>
                <a:cubicBezTo>
                  <a:pt x="656" y="10000"/>
                  <a:pt x="0" y="10875"/>
                  <a:pt x="0" y="12000"/>
                </a:cubicBezTo>
                <a:cubicBezTo>
                  <a:pt x="0" y="13125"/>
                  <a:pt x="656" y="14000"/>
                  <a:pt x="1500" y="14000"/>
                </a:cubicBezTo>
                <a:lnTo>
                  <a:pt x="18891" y="14000"/>
                </a:lnTo>
                <a:lnTo>
                  <a:pt x="13922" y="20563"/>
                </a:lnTo>
                <a:cubicBezTo>
                  <a:pt x="13359" y="21375"/>
                  <a:pt x="13359" y="22625"/>
                  <a:pt x="13922" y="23438"/>
                </a:cubicBezTo>
                <a:cubicBezTo>
                  <a:pt x="14531" y="24188"/>
                  <a:pt x="15469" y="24188"/>
                  <a:pt x="16078" y="23438"/>
                </a:cubicBezTo>
                <a:lnTo>
                  <a:pt x="23578" y="13438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 20"/>
          <p:cNvSpPr txBox="1"/>
          <p:nvPr/>
        </p:nvSpPr>
        <p:spPr>
          <a:xfrm>
            <a:off x="10125075" y="3731430"/>
            <a:ext cx="5846118" cy="386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045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More languages on the same MuRIL backbone</a:t>
            </a:r>
          </a:p>
        </p:txBody>
      </p:sp>
      <p:sp>
        <p:nvSpPr>
          <p:cNvPr id="21" name="Shape 21"/>
          <p:cNvSpPr/>
          <p:nvPr/>
        </p:nvSpPr>
        <p:spPr>
          <a:xfrm>
            <a:off x="9705975" y="4589711"/>
            <a:ext cx="228600" cy="228600"/>
          </a:xfrm>
          <a:custGeom>
            <a:avLst/>
            <a:gdLst/>
            <a:ahLst/>
            <a:cxnLst/>
            <a:rect l="0" t="0" r="24000" b="24000"/>
            <a:pathLst>
              <a:path w="24000" h="24000">
                <a:moveTo>
                  <a:pt x="23578" y="13438"/>
                </a:moveTo>
                <a:cubicBezTo>
                  <a:pt x="24141" y="12625"/>
                  <a:pt x="24141" y="11375"/>
                  <a:pt x="23578" y="10563"/>
                </a:cubicBezTo>
                <a:lnTo>
                  <a:pt x="16078" y="563"/>
                </a:lnTo>
                <a:cubicBezTo>
                  <a:pt x="15469" y="-187"/>
                  <a:pt x="14531" y="-187"/>
                  <a:pt x="13922" y="563"/>
                </a:cubicBezTo>
                <a:cubicBezTo>
                  <a:pt x="13359" y="1375"/>
                  <a:pt x="13359" y="2625"/>
                  <a:pt x="13922" y="3438"/>
                </a:cubicBezTo>
                <a:lnTo>
                  <a:pt x="18891" y="10000"/>
                </a:lnTo>
                <a:lnTo>
                  <a:pt x="1500" y="10000"/>
                </a:lnTo>
                <a:cubicBezTo>
                  <a:pt x="656" y="10000"/>
                  <a:pt x="0" y="10875"/>
                  <a:pt x="0" y="12000"/>
                </a:cubicBezTo>
                <a:cubicBezTo>
                  <a:pt x="0" y="13125"/>
                  <a:pt x="656" y="14000"/>
                  <a:pt x="1500" y="14000"/>
                </a:cubicBezTo>
                <a:lnTo>
                  <a:pt x="18891" y="14000"/>
                </a:lnTo>
                <a:lnTo>
                  <a:pt x="13922" y="20563"/>
                </a:lnTo>
                <a:cubicBezTo>
                  <a:pt x="13359" y="21375"/>
                  <a:pt x="13359" y="22625"/>
                  <a:pt x="13922" y="23438"/>
                </a:cubicBezTo>
                <a:cubicBezTo>
                  <a:pt x="14531" y="24188"/>
                  <a:pt x="15469" y="24188"/>
                  <a:pt x="16078" y="23438"/>
                </a:cubicBezTo>
                <a:lnTo>
                  <a:pt x="23578" y="13438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ext 22"/>
          <p:cNvSpPr txBox="1"/>
          <p:nvPr/>
        </p:nvSpPr>
        <p:spPr>
          <a:xfrm>
            <a:off x="10125075" y="4460985"/>
            <a:ext cx="5243661" cy="386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045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SEBI / AMFI investor-awareness channels</a:t>
            </a:r>
          </a:p>
        </p:txBody>
      </p:sp>
      <p:sp>
        <p:nvSpPr>
          <p:cNvPr id="23" name="Shape 23"/>
          <p:cNvSpPr/>
          <p:nvPr/>
        </p:nvSpPr>
        <p:spPr>
          <a:xfrm>
            <a:off x="9705975" y="5319266"/>
            <a:ext cx="228600" cy="228600"/>
          </a:xfrm>
          <a:custGeom>
            <a:avLst/>
            <a:gdLst/>
            <a:ahLst/>
            <a:cxnLst/>
            <a:rect l="0" t="0" r="24000" b="24000"/>
            <a:pathLst>
              <a:path w="24000" h="24000">
                <a:moveTo>
                  <a:pt x="23578" y="13438"/>
                </a:moveTo>
                <a:cubicBezTo>
                  <a:pt x="24141" y="12625"/>
                  <a:pt x="24141" y="11375"/>
                  <a:pt x="23578" y="10563"/>
                </a:cubicBezTo>
                <a:lnTo>
                  <a:pt x="16078" y="563"/>
                </a:lnTo>
                <a:cubicBezTo>
                  <a:pt x="15469" y="-187"/>
                  <a:pt x="14531" y="-187"/>
                  <a:pt x="13922" y="563"/>
                </a:cubicBezTo>
                <a:cubicBezTo>
                  <a:pt x="13359" y="1375"/>
                  <a:pt x="13359" y="2625"/>
                  <a:pt x="13922" y="3438"/>
                </a:cubicBezTo>
                <a:lnTo>
                  <a:pt x="18891" y="10000"/>
                </a:lnTo>
                <a:lnTo>
                  <a:pt x="1500" y="10000"/>
                </a:lnTo>
                <a:cubicBezTo>
                  <a:pt x="656" y="10000"/>
                  <a:pt x="0" y="10875"/>
                  <a:pt x="0" y="12000"/>
                </a:cubicBezTo>
                <a:cubicBezTo>
                  <a:pt x="0" y="13125"/>
                  <a:pt x="656" y="14000"/>
                  <a:pt x="1500" y="14000"/>
                </a:cubicBezTo>
                <a:lnTo>
                  <a:pt x="18891" y="14000"/>
                </a:lnTo>
                <a:lnTo>
                  <a:pt x="13922" y="20563"/>
                </a:lnTo>
                <a:cubicBezTo>
                  <a:pt x="13359" y="21375"/>
                  <a:pt x="13359" y="22625"/>
                  <a:pt x="13922" y="23438"/>
                </a:cubicBezTo>
                <a:cubicBezTo>
                  <a:pt x="14531" y="24188"/>
                  <a:pt x="15469" y="24188"/>
                  <a:pt x="16078" y="23438"/>
                </a:cubicBezTo>
                <a:lnTo>
                  <a:pt x="23578" y="13438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 24"/>
          <p:cNvSpPr txBox="1"/>
          <p:nvPr/>
        </p:nvSpPr>
        <p:spPr>
          <a:xfrm>
            <a:off x="10125075" y="5190541"/>
            <a:ext cx="4459932" cy="386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045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Browser extension on the same API</a:t>
            </a:r>
          </a:p>
        </p:txBody>
      </p:sp>
      <p:sp>
        <p:nvSpPr>
          <p:cNvPr id="25" name="Shape 25"/>
          <p:cNvSpPr/>
          <p:nvPr/>
        </p:nvSpPr>
        <p:spPr>
          <a:xfrm>
            <a:off x="9705975" y="6048821"/>
            <a:ext cx="228600" cy="228600"/>
          </a:xfrm>
          <a:custGeom>
            <a:avLst/>
            <a:gdLst/>
            <a:ahLst/>
            <a:cxnLst/>
            <a:rect l="0" t="0" r="24000" b="24000"/>
            <a:pathLst>
              <a:path w="24000" h="24000">
                <a:moveTo>
                  <a:pt x="23578" y="13438"/>
                </a:moveTo>
                <a:cubicBezTo>
                  <a:pt x="24141" y="12625"/>
                  <a:pt x="24141" y="11375"/>
                  <a:pt x="23578" y="10563"/>
                </a:cubicBezTo>
                <a:lnTo>
                  <a:pt x="16078" y="563"/>
                </a:lnTo>
                <a:cubicBezTo>
                  <a:pt x="15469" y="-187"/>
                  <a:pt x="14531" y="-187"/>
                  <a:pt x="13922" y="563"/>
                </a:cubicBezTo>
                <a:cubicBezTo>
                  <a:pt x="13359" y="1375"/>
                  <a:pt x="13359" y="2625"/>
                  <a:pt x="13922" y="3438"/>
                </a:cubicBezTo>
                <a:lnTo>
                  <a:pt x="18891" y="10000"/>
                </a:lnTo>
                <a:lnTo>
                  <a:pt x="1500" y="10000"/>
                </a:lnTo>
                <a:cubicBezTo>
                  <a:pt x="656" y="10000"/>
                  <a:pt x="0" y="10875"/>
                  <a:pt x="0" y="12000"/>
                </a:cubicBezTo>
                <a:cubicBezTo>
                  <a:pt x="0" y="13125"/>
                  <a:pt x="656" y="14000"/>
                  <a:pt x="1500" y="14000"/>
                </a:cubicBezTo>
                <a:lnTo>
                  <a:pt x="18891" y="14000"/>
                </a:lnTo>
                <a:lnTo>
                  <a:pt x="13922" y="20563"/>
                </a:lnTo>
                <a:cubicBezTo>
                  <a:pt x="13359" y="21375"/>
                  <a:pt x="13359" y="22625"/>
                  <a:pt x="13922" y="23438"/>
                </a:cubicBezTo>
                <a:cubicBezTo>
                  <a:pt x="14531" y="24188"/>
                  <a:pt x="15469" y="24188"/>
                  <a:pt x="16078" y="23438"/>
                </a:cubicBezTo>
                <a:lnTo>
                  <a:pt x="23578" y="13438"/>
                </a:ln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ext 26"/>
          <p:cNvSpPr txBox="1"/>
          <p:nvPr/>
        </p:nvSpPr>
        <p:spPr>
          <a:xfrm>
            <a:off x="10125075" y="5920096"/>
            <a:ext cx="5587454" cy="3866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3045"/>
              </a:lnSpc>
            </a:pPr>
            <a:r>
              <a:rPr sz="2100">
                <a:solidFill>
                  <a:srgbClr val="F1F5F9"/>
                </a:solidFill>
                <a:latin typeface="Inter"/>
                <a:ea typeface="Inter"/>
                <a:cs typeface="Inter"/>
              </a:rPr>
              <a:t>CPU-only transcription for low-resource use</a:t>
            </a:r>
          </a:p>
        </p:txBody>
      </p:sp>
      <p:sp>
        <p:nvSpPr>
          <p:cNvPr id="27" name="Shape 27"/>
          <p:cNvSpPr/>
          <p:nvPr/>
        </p:nvSpPr>
        <p:spPr>
          <a:xfrm>
            <a:off x="914400" y="7505700"/>
            <a:ext cx="13992225" cy="1524000"/>
          </a:xfrm>
          <a:custGeom>
            <a:avLst/>
            <a:gdLst/>
            <a:ahLst/>
            <a:cxnLst/>
            <a:rect l="0" t="0" r="1469000" b="160000"/>
            <a:pathLst>
              <a:path w="1469000" h="160000">
                <a:moveTo>
                  <a:pt x="14000" y="0"/>
                </a:moveTo>
                <a:lnTo>
                  <a:pt x="1455000" y="0"/>
                </a:lnTo>
                <a:cubicBezTo>
                  <a:pt x="1462730" y="0"/>
                  <a:pt x="1469000" y="6270"/>
                  <a:pt x="1469000" y="14000"/>
                </a:cubicBezTo>
                <a:lnTo>
                  <a:pt x="1469000" y="146000"/>
                </a:lnTo>
                <a:cubicBezTo>
                  <a:pt x="1469000" y="153730"/>
                  <a:pt x="1462730" y="160000"/>
                  <a:pt x="1455000" y="160000"/>
                </a:cubicBezTo>
                <a:lnTo>
                  <a:pt x="14000" y="160000"/>
                </a:lnTo>
                <a:cubicBezTo>
                  <a:pt x="6270" y="160000"/>
                  <a:pt x="0" y="153730"/>
                  <a:pt x="0" y="146000"/>
                </a:cubicBezTo>
                <a:lnTo>
                  <a:pt x="0" y="14000"/>
                </a:lnTo>
                <a:cubicBezTo>
                  <a:pt x="0" y="6270"/>
                  <a:pt x="6270" y="0"/>
                  <a:pt x="14000" y="0"/>
                </a:cubicBezTo>
                <a:close/>
              </a:path>
            </a:pathLst>
          </a:custGeom>
          <a:solidFill>
            <a:srgbClr val="1E293B"/>
          </a:solidFill>
          <a:ln w="9525" cap="flat" algn="in">
            <a:solidFill>
              <a:srgbClr val="06B6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Shape 28"/>
          <p:cNvSpPr/>
          <p:nvPr/>
        </p:nvSpPr>
        <p:spPr>
          <a:xfrm>
            <a:off x="1190625" y="7820025"/>
            <a:ext cx="57150" cy="895350"/>
          </a:xfrm>
          <a:custGeom>
            <a:avLst/>
            <a:gdLst/>
            <a:ahLst/>
            <a:cxnLst/>
            <a:rect l="0" t="0" r="6000" b="94000"/>
            <a:pathLst>
              <a:path w="6000" h="94000">
                <a:moveTo>
                  <a:pt x="3000" y="0"/>
                </a:moveTo>
                <a:lnTo>
                  <a:pt x="3000" y="0"/>
                </a:lnTo>
                <a:cubicBezTo>
                  <a:pt x="4660" y="0"/>
                  <a:pt x="6000" y="1340"/>
                  <a:pt x="6000" y="3000"/>
                </a:cubicBezTo>
                <a:lnTo>
                  <a:pt x="6000" y="91000"/>
                </a:lnTo>
                <a:cubicBezTo>
                  <a:pt x="6000" y="92660"/>
                  <a:pt x="4660" y="94000"/>
                  <a:pt x="3000" y="94000"/>
                </a:cubicBezTo>
                <a:lnTo>
                  <a:pt x="3000" y="94000"/>
                </a:lnTo>
                <a:cubicBezTo>
                  <a:pt x="1340" y="94000"/>
                  <a:pt x="0" y="92660"/>
                  <a:pt x="0" y="91000"/>
                </a:cubicBezTo>
                <a:lnTo>
                  <a:pt x="0" y="3000"/>
                </a:lnTo>
                <a:cubicBezTo>
                  <a:pt x="0" y="1340"/>
                  <a:pt x="1340" y="0"/>
                  <a:pt x="3000" y="0"/>
                </a:cubicBezTo>
                <a:close/>
              </a:path>
            </a:pathLst>
          </a:custGeom>
          <a:solidFill>
            <a:srgbClr val="06B6D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Shape 29"/>
          <p:cNvSpPr/>
          <p:nvPr/>
        </p:nvSpPr>
        <p:spPr>
          <a:xfrm>
            <a:off x="1581150" y="8040142"/>
            <a:ext cx="514350" cy="457200"/>
          </a:xfrm>
          <a:custGeom>
            <a:avLst/>
            <a:gdLst/>
            <a:ahLst/>
            <a:cxnLst/>
            <a:rect l="0" t="0" r="54000" b="48000"/>
            <a:pathLst>
              <a:path w="54000" h="48000">
                <a:moveTo>
                  <a:pt x="25219" y="5679"/>
                </a:moveTo>
                <a:lnTo>
                  <a:pt x="14250" y="19607"/>
                </a:lnTo>
                <a:cubicBezTo>
                  <a:pt x="13875" y="20143"/>
                  <a:pt x="13875" y="21000"/>
                  <a:pt x="14344" y="21536"/>
                </a:cubicBezTo>
                <a:cubicBezTo>
                  <a:pt x="17156" y="24750"/>
                  <a:pt x="21844" y="24750"/>
                  <a:pt x="24656" y="21536"/>
                </a:cubicBezTo>
                <a:lnTo>
                  <a:pt x="27656" y="18107"/>
                </a:lnTo>
                <a:cubicBezTo>
                  <a:pt x="28031" y="17679"/>
                  <a:pt x="28594" y="17357"/>
                  <a:pt x="29063" y="17357"/>
                </a:cubicBezTo>
                <a:cubicBezTo>
                  <a:pt x="29719" y="17250"/>
                  <a:pt x="30375" y="17571"/>
                  <a:pt x="30844" y="18107"/>
                </a:cubicBezTo>
                <a:lnTo>
                  <a:pt x="47438" y="36857"/>
                </a:lnTo>
                <a:lnTo>
                  <a:pt x="54000" y="30857"/>
                </a:lnTo>
                <a:lnTo>
                  <a:pt x="54000" y="0"/>
                </a:lnTo>
                <a:lnTo>
                  <a:pt x="43500" y="6857"/>
                </a:lnTo>
                <a:lnTo>
                  <a:pt x="41250" y="5143"/>
                </a:lnTo>
                <a:cubicBezTo>
                  <a:pt x="39750" y="4071"/>
                  <a:pt x="38063" y="3429"/>
                  <a:pt x="36281" y="3429"/>
                </a:cubicBezTo>
                <a:lnTo>
                  <a:pt x="29719" y="3429"/>
                </a:lnTo>
                <a:lnTo>
                  <a:pt x="29344" y="3429"/>
                </a:lnTo>
                <a:cubicBezTo>
                  <a:pt x="27750" y="3536"/>
                  <a:pt x="26250" y="4393"/>
                  <a:pt x="25219" y="5679"/>
                </a:cubicBezTo>
                <a:close/>
                <a:moveTo>
                  <a:pt x="10969" y="16179"/>
                </a:moveTo>
                <a:lnTo>
                  <a:pt x="20906" y="3429"/>
                </a:lnTo>
                <a:lnTo>
                  <a:pt x="17250" y="3429"/>
                </a:lnTo>
                <a:cubicBezTo>
                  <a:pt x="14813" y="3429"/>
                  <a:pt x="12563" y="4500"/>
                  <a:pt x="10875" y="6429"/>
                </a:cubicBezTo>
                <a:lnTo>
                  <a:pt x="10500" y="6857"/>
                </a:lnTo>
                <a:lnTo>
                  <a:pt x="0" y="0"/>
                </a:lnTo>
                <a:lnTo>
                  <a:pt x="0" y="30857"/>
                </a:lnTo>
                <a:lnTo>
                  <a:pt x="14625" y="44786"/>
                </a:lnTo>
                <a:cubicBezTo>
                  <a:pt x="16781" y="46929"/>
                  <a:pt x="19500" y="48000"/>
                  <a:pt x="22313" y="48000"/>
                </a:cubicBezTo>
                <a:lnTo>
                  <a:pt x="23813" y="48000"/>
                </a:lnTo>
                <a:lnTo>
                  <a:pt x="23156" y="47250"/>
                </a:lnTo>
                <a:cubicBezTo>
                  <a:pt x="22313" y="46286"/>
                  <a:pt x="22313" y="44571"/>
                  <a:pt x="23156" y="43607"/>
                </a:cubicBezTo>
                <a:cubicBezTo>
                  <a:pt x="24000" y="42643"/>
                  <a:pt x="25500" y="42643"/>
                  <a:pt x="26344" y="43607"/>
                </a:cubicBezTo>
                <a:lnTo>
                  <a:pt x="30188" y="48000"/>
                </a:lnTo>
                <a:lnTo>
                  <a:pt x="31031" y="48000"/>
                </a:lnTo>
                <a:cubicBezTo>
                  <a:pt x="32813" y="48000"/>
                  <a:pt x="34594" y="47571"/>
                  <a:pt x="36188" y="46714"/>
                </a:cubicBezTo>
                <a:lnTo>
                  <a:pt x="33656" y="43821"/>
                </a:lnTo>
                <a:cubicBezTo>
                  <a:pt x="32813" y="42857"/>
                  <a:pt x="32813" y="41143"/>
                  <a:pt x="33656" y="40179"/>
                </a:cubicBezTo>
                <a:cubicBezTo>
                  <a:pt x="34500" y="39214"/>
                  <a:pt x="36000" y="39214"/>
                  <a:pt x="36844" y="40179"/>
                </a:cubicBezTo>
                <a:lnTo>
                  <a:pt x="39844" y="43607"/>
                </a:lnTo>
                <a:lnTo>
                  <a:pt x="41438" y="41786"/>
                </a:lnTo>
                <a:cubicBezTo>
                  <a:pt x="42281" y="40821"/>
                  <a:pt x="42563" y="39429"/>
                  <a:pt x="42188" y="38250"/>
                </a:cubicBezTo>
                <a:lnTo>
                  <a:pt x="29250" y="23571"/>
                </a:lnTo>
                <a:lnTo>
                  <a:pt x="27844" y="25179"/>
                </a:lnTo>
                <a:cubicBezTo>
                  <a:pt x="23250" y="30429"/>
                  <a:pt x="15750" y="30429"/>
                  <a:pt x="11156" y="25179"/>
                </a:cubicBezTo>
                <a:cubicBezTo>
                  <a:pt x="9000" y="22714"/>
                  <a:pt x="8906" y="18750"/>
                  <a:pt x="10969" y="16179"/>
                </a:cubicBezTo>
                <a:close/>
              </a:path>
            </a:pathLst>
          </a:cu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Text 30"/>
          <p:cNvSpPr txBox="1"/>
          <p:nvPr/>
        </p:nvSpPr>
        <p:spPr>
          <a:xfrm>
            <a:off x="2390775" y="7791879"/>
            <a:ext cx="1056233" cy="293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10"/>
              </a:lnSpc>
            </a:pPr>
            <a:r>
              <a:rPr sz="1650" spc="198">
                <a:solidFill>
                  <a:srgbClr val="22D3EE"/>
                </a:solidFill>
                <a:latin typeface="JetBrains Mono"/>
                <a:ea typeface="JetBrains Mono"/>
                <a:cs typeface="JetBrains Mono"/>
              </a:rPr>
              <a:t>THE ASK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2390775" y="8174881"/>
            <a:ext cx="10250388" cy="5256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140"/>
              </a:lnSpc>
            </a:pPr>
            <a:r>
              <a:rPr sz="3450" b="1" spc="-17">
                <a:solidFill>
                  <a:srgbClr val="F1F5F9"/>
                </a:solidFill>
                <a:latin typeface="Inter"/>
                <a:ea typeface="Inter"/>
                <a:cs typeface="Inter"/>
              </a:rPr>
              <a:t>Pilot Sachet with one investor-education partner.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5519648" y="7962286"/>
            <a:ext cx="1853952" cy="628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4950"/>
              </a:lnSpc>
            </a:pPr>
            <a:r>
              <a:rPr sz="4500" b="1" spc="-90">
                <a:solidFill>
                  <a:srgbClr val="94A3B8"/>
                </a:solidFill>
                <a:latin typeface="Inter"/>
                <a:ea typeface="Inter"/>
                <a:cs typeface="Inter"/>
              </a:rPr>
              <a:t>Sachet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914400" y="9187456"/>
            <a:ext cx="15676215" cy="3037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ts val="2393"/>
              </a:lnSpc>
            </a:pPr>
            <a:r>
              <a:rPr sz="1650">
                <a:solidFill>
                  <a:srgbClr val="94A3B8"/>
                </a:solidFill>
                <a:latin typeface="Inter"/>
                <a:ea typeface="Inter"/>
                <a:cs typeface="Inter"/>
              </a:rPr>
              <a:t>Sachet flags promotional risk signals for investor education. It does not rate securities or give investment advice — when a claim cannot be verified, it says 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Playyy</Application>
</Properties>
</file>

<file path=docProps/core.xml><?xml version="1.0" encoding="utf-8"?>
<cp:coreProperties xmlns:cp="http://schemas.openxmlformats.org/package/2006/metadata/core-properties" xmlns:dc="http://purl.org/dc/elements/1.1/">
  <dc:title>Exported design</dc:title>
</cp:coreProperties>
</file>